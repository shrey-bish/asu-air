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slides/slide38.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33.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22.xml" ContentType="application/vnd.openxmlformats-officedocument.presentationml.slide+xml"/>
  <Override PartName="/ppt/slides/slide29.xml" ContentType="application/vnd.openxmlformats-officedocument.presentationml.slide+xml"/>
  <Override PartName="/ppt/slides/slide35.xml" ContentType="application/vnd.openxmlformats-officedocument.presentationml.slide+xml"/>
  <Override PartName="/ppt/slides/slide10.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theme/theme1.xml" ContentType="application/vnd.openxmlformats-officedocument.them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10.bin" ContentType="application/vnd.openxmlformats-officedocument.oleObject"/>
  <Override PartName="/ppt/embeddings/oleObject7.bin" ContentType="application/vnd.openxmlformats-officedocument.oleObject"/>
  <Override PartName="/ppt/embeddings/oleObject6.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media/image5.wmf" ContentType="image/x-wmf"/>
  <Override PartName="/ppt/media/image12.wmf" ContentType="image/x-wmf"/>
  <Override PartName="/ppt/media/image28.emf" ContentType="image/x-emf"/>
  <Override PartName="/ppt/media/image21.emf" ContentType="image/x-emf"/>
  <Override PartName="/ppt/media/image15.wmf" ContentType="image/x-wmf"/>
  <Override PartName="/ppt/media/image1.wmf" ContentType="image/x-wmf"/>
  <Override PartName="/ppt/media/image10.emf" ContentType="image/x-emf"/>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Rectangle 2"/>
          <p:cNvSpPr/>
          <p:nvPr/>
        </p:nvSpPr>
        <p:spPr>
          <a:xfrm>
            <a:off x="417600" y="1098720"/>
            <a:ext cx="438120" cy="474480"/>
          </a:xfrm>
          <a:prstGeom prst="rect">
            <a:avLst/>
          </a:prstGeom>
          <a:solidFill>
            <a:srgbClr val="FFCF01"/>
          </a:solidFill>
          <a:ln w="0">
            <a:noFill/>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 name="Rectangle 3"/>
          <p:cNvSpPr/>
          <p:nvPr/>
        </p:nvSpPr>
        <p:spPr>
          <a:xfrm>
            <a:off x="800280" y="1098720"/>
            <a:ext cx="328320" cy="474480"/>
          </a:xfrm>
          <a:prstGeom prst="rect">
            <a:avLst/>
          </a:prstGeom>
          <a:gradFill rotWithShape="0">
            <a:gsLst>
              <a:gs pos="0">
                <a:srgbClr val="FFCF01"/>
              </a:gs>
              <a:gs pos="100000">
                <a:srgbClr val="FFFFFF"/>
              </a:gs>
            </a:gsLst>
            <a:lin ang="0"/>
          </a:gradFill>
          <a:ln w="0">
            <a:noFill/>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4" name="Rectangle 4"/>
          <p:cNvSpPr/>
          <p:nvPr/>
        </p:nvSpPr>
        <p:spPr>
          <a:xfrm>
            <a:off x="541440" y="1521000"/>
            <a:ext cx="422280" cy="474480"/>
          </a:xfrm>
          <a:prstGeom prst="rect">
            <a:avLst/>
          </a:prstGeom>
          <a:solidFill>
            <a:srgbClr val="3333CC"/>
          </a:solidFill>
          <a:ln w="0">
            <a:noFill/>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5" name="Rectangle 5"/>
          <p:cNvSpPr/>
          <p:nvPr/>
        </p:nvSpPr>
        <p:spPr>
          <a:xfrm>
            <a:off x="911160" y="1521000"/>
            <a:ext cx="368280" cy="474480"/>
          </a:xfrm>
          <a:prstGeom prst="rect">
            <a:avLst/>
          </a:prstGeom>
          <a:gradFill rotWithShape="0">
            <a:gsLst>
              <a:gs pos="0">
                <a:srgbClr val="3333CC"/>
              </a:gs>
              <a:gs pos="100000">
                <a:srgbClr val="FFFFFF"/>
              </a:gs>
            </a:gsLst>
            <a:lin ang="0"/>
          </a:gradFill>
          <a:ln w="0">
            <a:noFill/>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6" name="Rectangle 6"/>
          <p:cNvSpPr/>
          <p:nvPr/>
        </p:nvSpPr>
        <p:spPr>
          <a:xfrm>
            <a:off x="127080" y="1447920"/>
            <a:ext cx="560160" cy="422280"/>
          </a:xfrm>
          <a:prstGeom prst="rect">
            <a:avLst/>
          </a:prstGeom>
          <a:gradFill rotWithShape="0">
            <a:gsLst>
              <a:gs pos="0">
                <a:srgbClr val="FFFFFF"/>
              </a:gs>
              <a:gs pos="100000">
                <a:srgbClr val="FF0000"/>
              </a:gs>
            </a:gsLst>
            <a:lin ang="18900000"/>
          </a:gradFill>
          <a:ln w="0">
            <a:noFill/>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7" name="Rectangle 7"/>
          <p:cNvSpPr/>
          <p:nvPr/>
        </p:nvSpPr>
        <p:spPr>
          <a:xfrm>
            <a:off x="762120" y="990720"/>
            <a:ext cx="31680" cy="1052280"/>
          </a:xfrm>
          <a:prstGeom prst="rect">
            <a:avLst/>
          </a:prstGeom>
          <a:solidFill>
            <a:srgbClr val="1C1C1C"/>
          </a:solidFill>
          <a:ln w="0">
            <a:noFill/>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8" name="Rectangle 8"/>
          <p:cNvSpPr/>
          <p:nvPr/>
        </p:nvSpPr>
        <p:spPr>
          <a:xfrm>
            <a:off x="442800" y="1781280"/>
            <a:ext cx="8226360" cy="31680"/>
          </a:xfrm>
          <a:prstGeom prst="rect">
            <a:avLst/>
          </a:prstGeom>
          <a:gradFill rotWithShape="0">
            <a:gsLst>
              <a:gs pos="0">
                <a:srgbClr val="1C1C1C"/>
              </a:gs>
              <a:gs pos="100000">
                <a:srgbClr val="FFFFFF"/>
              </a:gs>
            </a:gsLst>
            <a:lin ang="0"/>
          </a:gradFill>
          <a:ln w="0">
            <a:noFill/>
          </a:ln>
        </p:spPr>
        <p:style>
          <a:lnRef idx="0"/>
          <a:fillRef idx="0"/>
          <a:effectRef idx="0"/>
          <a:fontRef idx="minor"/>
        </p:style>
        <p:txBody>
          <a:bodyPr wrap="none" lIns="90000" tIns="-15120" rIns="90000" bIns="-1512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9" name="PlaceHolder 1"/>
          <p:cNvSpPr>
            <a:spLocks noGrp="1"/>
          </p:cNvSpPr>
          <p:nvPr>
            <p:ph type="title"/>
          </p:nvPr>
        </p:nvSpPr>
        <p:spPr>
          <a:xfrm>
            <a:off x="1150560" y="617040"/>
            <a:ext cx="7792920" cy="1143000"/>
          </a:xfrm>
          <a:prstGeom prst="rect">
            <a:avLst/>
          </a:prstGeom>
          <a:noFill/>
          <a:ln w="0">
            <a:noFill/>
          </a:ln>
        </p:spPr>
        <p:txBody>
          <a:bodyPr lIns="90000" tIns="46800" rIns="90000" bIns="46800" anchor="b">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333399"/>
                </a:solidFill>
                <a:effectLst/>
                <a:uFillTx/>
                <a:latin typeface="Verdana"/>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Click to edit the title text format</a:t>
            </a:r>
            <a:endParaRPr lang="en-US" sz="4400" b="0" u="none" strike="noStrike">
              <a:solidFill>
                <a:srgbClr val="333399"/>
              </a:solidFill>
              <a:effectLst/>
              <a:uFillTx/>
              <a:latin typeface="Verdana"/>
            </a:endParaRPr>
          </a:p>
        </p:txBody>
      </p:sp>
      <p:sp>
        <p:nvSpPr>
          <p:cNvPr id="10" name="PlaceHolder 2"/>
          <p:cNvSpPr>
            <a:spLocks noGrp="1"/>
          </p:cNvSpPr>
          <p:nvPr>
            <p:ph type="body"/>
          </p:nvPr>
        </p:nvSpPr>
        <p:spPr>
          <a:xfrm>
            <a:off x="1182600" y="2017800"/>
            <a:ext cx="7772400" cy="4114800"/>
          </a:xfrm>
          <a:prstGeom prst="rect">
            <a:avLst/>
          </a:prstGeom>
          <a:noFill/>
          <a:ln w="0">
            <a:noFill/>
          </a:ln>
        </p:spPr>
        <p:txBody>
          <a:bodyPr lIns="90000" tIns="46800" rIns="90000" bIns="46800" anchor="t">
            <a:normAutofit lnSpcReduction="9999"/>
          </a:bodyPr>
          <a:lstStyle>
            <a:lvl1pPr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1pPr>
            <a:lvl2pPr lvl="1" algn="l">
              <a:spcBef>
                <a:spcPts val="7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2pPr>
            <a:lvl3pPr lvl="2" algn="l">
              <a:spcBef>
                <a:spcPts val="799"/>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3pPr>
            <a:lvl4pPr lvl="3" algn="l">
              <a:spcBef>
                <a:spcPts val="799"/>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4pPr>
            <a:lvl5pPr lvl="4" algn="l">
              <a:spcBef>
                <a:spcPts val="799"/>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5pPr>
            <a:lvl6pPr lvl="5"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6pPr>
            <a:lvl7pPr lvl="6"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7pPr>
          </a:lstStyle>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Click to edit the outline text format</a:t>
            </a:r>
            <a:endParaRPr lang="en-US" sz="3200" b="0" u="none" strike="noStrike">
              <a:solidFill>
                <a:srgbClr val="000000"/>
              </a:solidFill>
              <a:effectLst/>
              <a:uFillTx/>
              <a:latin typeface="Verdana"/>
            </a:endParaRPr>
          </a:p>
          <a:p>
            <a:pPr marL="743040" lvl="1" indent="-285840" algn="l">
              <a:spcBef>
                <a:spcPts val="7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Second Outline Level</a:t>
            </a:r>
            <a:endParaRPr lang="en-US" sz="3200" b="0" u="none" strike="noStrike">
              <a:solidFill>
                <a:srgbClr val="000000"/>
              </a:solidFill>
              <a:effectLst/>
              <a:uFillTx/>
              <a:latin typeface="Verdana"/>
            </a:endParaRPr>
          </a:p>
          <a:p>
            <a:pPr marL="1143000" lvl="2" indent="-228600" algn="l">
              <a:spcBef>
                <a:spcPts val="799"/>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Third Outline Level</a:t>
            </a:r>
            <a:endParaRPr lang="en-US" sz="3200" b="0" u="none" strike="noStrike">
              <a:solidFill>
                <a:srgbClr val="000000"/>
              </a:solidFill>
              <a:effectLst/>
              <a:uFillTx/>
              <a:latin typeface="Verdana"/>
            </a:endParaRPr>
          </a:p>
          <a:p>
            <a:pPr marL="1600200" lvl="3" indent="-228600" algn="l">
              <a:spcBef>
                <a:spcPts val="799"/>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Fourth Outline Level</a:t>
            </a:r>
            <a:endParaRPr lang="en-US" sz="3200" b="0" u="none" strike="noStrike">
              <a:solidFill>
                <a:srgbClr val="000000"/>
              </a:solidFill>
              <a:effectLst/>
              <a:uFillTx/>
              <a:latin typeface="Verdana"/>
            </a:endParaRPr>
          </a:p>
          <a:p>
            <a:pPr marL="2057400" lvl="4" indent="-228600" algn="l">
              <a:spcBef>
                <a:spcPts val="799"/>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Fifth Outline Level</a:t>
            </a:r>
            <a:endParaRPr lang="en-US" sz="3200" b="0" u="none" strike="noStrike">
              <a:solidFill>
                <a:srgbClr val="000000"/>
              </a:solidFill>
              <a:effectLst/>
              <a:uFillTx/>
              <a:latin typeface="Verdana"/>
            </a:endParaRPr>
          </a:p>
          <a:p>
            <a:pPr marL="2057400" lvl="5" indent="-228600"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Sixth Outline Level</a:t>
            </a:r>
            <a:endParaRPr lang="en-US" sz="3200" b="0" u="none" strike="noStrike">
              <a:solidFill>
                <a:srgbClr val="000000"/>
              </a:solidFill>
              <a:effectLst/>
              <a:uFillTx/>
              <a:latin typeface="Verdana"/>
            </a:endParaRPr>
          </a:p>
          <a:p>
            <a:pPr marL="2057400" lvl="6" indent="-228600"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Seventh Outline Level</a:t>
            </a:r>
            <a:endParaRPr lang="en-US" sz="3200" b="0" u="none" strike="noStrike">
              <a:solidFill>
                <a:srgbClr val="000000"/>
              </a:solidFill>
              <a:effectLst/>
              <a:uFillTx/>
              <a:latin typeface="Verdana"/>
            </a:endParaRPr>
          </a:p>
        </p:txBody>
      </p:sp>
      <p:sp>
        <p:nvSpPr>
          <p:cNvPr id="11" name="PlaceHolder 3"/>
          <p:cNvSpPr>
            <a:spLocks noGrp="1"/>
          </p:cNvSpPr>
          <p:nvPr>
            <p:ph type="dt" idx="1"/>
          </p:nvPr>
        </p:nvSpPr>
        <p:spPr>
          <a:xfrm>
            <a:off x="914400" y="6324480"/>
            <a:ext cx="1905120" cy="457200"/>
          </a:xfrm>
          <a:prstGeom prst="rect">
            <a:avLst/>
          </a:prstGeom>
          <a:noFill/>
          <a:ln w="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2" name="PlaceHolder 4"/>
          <p:cNvSpPr>
            <a:spLocks noGrp="1"/>
          </p:cNvSpPr>
          <p:nvPr>
            <p:ph type="ftr" idx="2"/>
          </p:nvPr>
        </p:nvSpPr>
        <p:spPr>
          <a:xfrm>
            <a:off x="3352680" y="6324480"/>
            <a:ext cx="2895840" cy="457200"/>
          </a:xfrm>
          <a:prstGeom prst="rect">
            <a:avLst/>
          </a:prstGeom>
          <a:noFill/>
          <a:ln w="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3" name="PlaceHolder 5"/>
          <p:cNvSpPr>
            <a:spLocks noGrp="1"/>
          </p:cNvSpPr>
          <p:nvPr>
            <p:ph type="sldNum" idx="3"/>
          </p:nvPr>
        </p:nvSpPr>
        <p:spPr>
          <a:xfrm>
            <a:off x="6781680" y="6324480"/>
            <a:ext cx="1905120" cy="45720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E92F146-5E0E-450B-918A-5B3B4F63358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grpSp>
        <p:nvGrpSpPr>
          <p:cNvPr id="14" name="Group 2"/>
          <p:cNvGrpSpPr/>
          <p:nvPr/>
        </p:nvGrpSpPr>
        <p:grpSpPr>
          <a:xfrm>
            <a:off x="0" y="2438280"/>
            <a:ext cx="9009000" cy="1052640"/>
            <a:chOff x="0" y="2438280"/>
            <a:chExt cx="9009000" cy="1052640"/>
          </a:xfrm>
        </p:grpSpPr>
        <p:grpSp>
          <p:nvGrpSpPr>
            <p:cNvPr id="15" name="Group 3"/>
            <p:cNvGrpSpPr/>
            <p:nvPr/>
          </p:nvGrpSpPr>
          <p:grpSpPr>
            <a:xfrm>
              <a:off x="290520" y="2546280"/>
              <a:ext cx="711360" cy="474840"/>
              <a:chOff x="290520" y="2546280"/>
              <a:chExt cx="711360" cy="474840"/>
            </a:xfrm>
          </p:grpSpPr>
          <p:sp>
            <p:nvSpPr>
              <p:cNvPr id="16" name="Rectangle 4"/>
              <p:cNvSpPr/>
              <p:nvPr/>
            </p:nvSpPr>
            <p:spPr>
              <a:xfrm>
                <a:off x="290520" y="2546280"/>
                <a:ext cx="437400" cy="474840"/>
              </a:xfrm>
              <a:prstGeom prst="rect">
                <a:avLst/>
              </a:prstGeom>
              <a:solidFill>
                <a:srgbClr val="3333CC"/>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 name="Rectangle 5"/>
              <p:cNvSpPr/>
              <p:nvPr/>
            </p:nvSpPr>
            <p:spPr>
              <a:xfrm>
                <a:off x="673560" y="2546280"/>
                <a:ext cx="328320" cy="474840"/>
              </a:xfrm>
              <a:prstGeom prst="rect">
                <a:avLst/>
              </a:prstGeom>
              <a:gradFill rotWithShape="0">
                <a:gsLst>
                  <a:gs pos="0">
                    <a:srgbClr val="3333CC"/>
                  </a:gs>
                  <a:gs pos="100000">
                    <a:srgbClr val="FFFFFF"/>
                  </a:gs>
                </a:gsLst>
                <a:lin ang="0"/>
              </a:gra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pSp>
        <p:grpSp>
          <p:nvGrpSpPr>
            <p:cNvPr id="18" name="Group 6"/>
            <p:cNvGrpSpPr/>
            <p:nvPr/>
          </p:nvGrpSpPr>
          <p:grpSpPr>
            <a:xfrm>
              <a:off x="414360" y="2968560"/>
              <a:ext cx="738000" cy="474840"/>
              <a:chOff x="414360" y="2968560"/>
              <a:chExt cx="738000" cy="474840"/>
            </a:xfrm>
          </p:grpSpPr>
          <p:sp>
            <p:nvSpPr>
              <p:cNvPr id="19" name="Rectangle 7"/>
              <p:cNvSpPr/>
              <p:nvPr/>
            </p:nvSpPr>
            <p:spPr>
              <a:xfrm>
                <a:off x="414360" y="2968560"/>
                <a:ext cx="421560" cy="474840"/>
              </a:xfrm>
              <a:prstGeom prst="rect">
                <a:avLst/>
              </a:prstGeom>
              <a:solidFill>
                <a:srgbClr val="FFCF01"/>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0" name="Rectangle 8"/>
              <p:cNvSpPr/>
              <p:nvPr/>
            </p:nvSpPr>
            <p:spPr>
              <a:xfrm>
                <a:off x="784440" y="2968560"/>
                <a:ext cx="367920" cy="474840"/>
              </a:xfrm>
              <a:prstGeom prst="rect">
                <a:avLst/>
              </a:prstGeom>
              <a:gradFill rotWithShape="0">
                <a:gsLst>
                  <a:gs pos="0">
                    <a:srgbClr val="FFCF01"/>
                  </a:gs>
                  <a:gs pos="100000">
                    <a:srgbClr val="FFFFFF"/>
                  </a:gs>
                </a:gsLst>
                <a:lin ang="0"/>
              </a:gra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pSp>
        <p:sp>
          <p:nvSpPr>
            <p:cNvPr id="21" name="Rectangle 9"/>
            <p:cNvSpPr/>
            <p:nvPr/>
          </p:nvSpPr>
          <p:spPr>
            <a:xfrm>
              <a:off x="0" y="2895480"/>
              <a:ext cx="560520" cy="422280"/>
            </a:xfrm>
            <a:prstGeom prst="rect">
              <a:avLst/>
            </a:prstGeom>
            <a:gradFill rotWithShape="0">
              <a:gsLst>
                <a:gs pos="0">
                  <a:srgbClr val="FFFFFF"/>
                </a:gs>
                <a:gs pos="100000">
                  <a:srgbClr val="FF0000"/>
                </a:gs>
              </a:gsLst>
              <a:lin ang="18900000"/>
            </a:gra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 name="Rectangle 10"/>
            <p:cNvSpPr/>
            <p:nvPr/>
          </p:nvSpPr>
          <p:spPr>
            <a:xfrm>
              <a:off x="635040" y="2438280"/>
              <a:ext cx="31680" cy="1052640"/>
            </a:xfrm>
            <a:prstGeom prst="rect">
              <a:avLst/>
            </a:prstGeom>
            <a:solidFill>
              <a:srgbClr val="1C1C1C"/>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 name="Rectangle 11"/>
            <p:cNvSpPr/>
            <p:nvPr/>
          </p:nvSpPr>
          <p:spPr>
            <a:xfrm flipV="1">
              <a:off x="316080" y="3260520"/>
              <a:ext cx="8692920" cy="55440"/>
            </a:xfrm>
            <a:prstGeom prst="rect">
              <a:avLst/>
            </a:prstGeom>
            <a:gradFill rotWithShape="0">
              <a:gsLst>
                <a:gs pos="0">
                  <a:srgbClr val="1C1C1C"/>
                </a:gs>
                <a:gs pos="100000">
                  <a:srgbClr val="FFFFFF"/>
                </a:gs>
              </a:gsLst>
              <a:lin ang="0"/>
            </a:gradFill>
            <a:ln w="0">
              <a:noFill/>
            </a:ln>
          </p:spPr>
          <p:style>
            <a:lnRef idx="0"/>
            <a:fillRef idx="0"/>
            <a:effectRef idx="0"/>
            <a:fontRef idx="minor"/>
          </p:style>
          <p:txBody>
            <a:bodyPr wrap="none" lIns="90000" tIns="8640" rIns="90000" bIns="86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pSp>
      <p:sp>
        <p:nvSpPr>
          <p:cNvPr id="24" name="PlaceHolder 1"/>
          <p:cNvSpPr>
            <a:spLocks noGrp="1"/>
          </p:cNvSpPr>
          <p:nvPr>
            <p:ph type="title"/>
          </p:nvPr>
        </p:nvSpPr>
        <p:spPr>
          <a:xfrm>
            <a:off x="1150560" y="617040"/>
            <a:ext cx="7792920" cy="1143000"/>
          </a:xfrm>
          <a:prstGeom prst="rect">
            <a:avLst/>
          </a:prstGeom>
          <a:noFill/>
          <a:ln w="0">
            <a:noFill/>
          </a:ln>
        </p:spPr>
        <p:txBody>
          <a:bodyPr lIns="90000" tIns="46800" rIns="90000" bIns="46800" anchor="b">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333399"/>
                </a:solidFill>
                <a:effectLst/>
                <a:uFillTx/>
                <a:latin typeface="Verdana"/>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Click to edit the title text format</a:t>
            </a:r>
            <a:endParaRPr lang="en-US" sz="4400" b="0" u="none" strike="noStrike">
              <a:solidFill>
                <a:srgbClr val="333399"/>
              </a:solidFill>
              <a:effectLst/>
              <a:uFillTx/>
              <a:latin typeface="Verdana"/>
            </a:endParaRPr>
          </a:p>
        </p:txBody>
      </p:sp>
      <p:sp>
        <p:nvSpPr>
          <p:cNvPr id="25" name="PlaceHolder 2"/>
          <p:cNvSpPr>
            <a:spLocks noGrp="1"/>
          </p:cNvSpPr>
          <p:nvPr>
            <p:ph type="body"/>
          </p:nvPr>
        </p:nvSpPr>
        <p:spPr>
          <a:xfrm>
            <a:off x="1182600" y="2017800"/>
            <a:ext cx="7772400" cy="4114800"/>
          </a:xfrm>
          <a:prstGeom prst="rect">
            <a:avLst/>
          </a:prstGeom>
          <a:noFill/>
          <a:ln w="0">
            <a:noFill/>
          </a:ln>
        </p:spPr>
        <p:txBody>
          <a:bodyPr lIns="90000" tIns="46800" rIns="90000" bIns="46800" anchor="t">
            <a:normAutofit lnSpcReduction="9999"/>
          </a:bodyPr>
          <a:lstStyle>
            <a:lvl1pPr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1pPr>
            <a:lvl2pPr lvl="1" algn="l">
              <a:spcBef>
                <a:spcPts val="7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2pPr>
            <a:lvl3pPr lvl="2" algn="l">
              <a:spcBef>
                <a:spcPts val="799"/>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3pPr>
            <a:lvl4pPr lvl="3" algn="l">
              <a:spcBef>
                <a:spcPts val="799"/>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4pPr>
            <a:lvl5pPr lvl="4" algn="l">
              <a:spcBef>
                <a:spcPts val="799"/>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5pPr>
            <a:lvl6pPr lvl="5"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6pPr>
            <a:lvl7pPr lvl="6"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Verdana"/>
              </a:defRPr>
            </a:lvl7pPr>
          </a:lstStyle>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Click to edit the outline text format</a:t>
            </a:r>
            <a:endParaRPr lang="en-US" sz="3200" b="0" u="none" strike="noStrike">
              <a:solidFill>
                <a:srgbClr val="000000"/>
              </a:solidFill>
              <a:effectLst/>
              <a:uFillTx/>
              <a:latin typeface="Verdana"/>
            </a:endParaRPr>
          </a:p>
          <a:p>
            <a:pPr marL="743040" lvl="1" indent="-285840" algn="l">
              <a:spcBef>
                <a:spcPts val="7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Second Outline Level</a:t>
            </a:r>
            <a:endParaRPr lang="en-US" sz="3200" b="0" u="none" strike="noStrike">
              <a:solidFill>
                <a:srgbClr val="000000"/>
              </a:solidFill>
              <a:effectLst/>
              <a:uFillTx/>
              <a:latin typeface="Verdana"/>
            </a:endParaRPr>
          </a:p>
          <a:p>
            <a:pPr marL="1143000" lvl="2" indent="-228600" algn="l">
              <a:spcBef>
                <a:spcPts val="799"/>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Third Outline Level</a:t>
            </a:r>
            <a:endParaRPr lang="en-US" sz="3200" b="0" u="none" strike="noStrike">
              <a:solidFill>
                <a:srgbClr val="000000"/>
              </a:solidFill>
              <a:effectLst/>
              <a:uFillTx/>
              <a:latin typeface="Verdana"/>
            </a:endParaRPr>
          </a:p>
          <a:p>
            <a:pPr marL="1600200" lvl="3" indent="-228600" algn="l">
              <a:spcBef>
                <a:spcPts val="799"/>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Fourth Outline Level</a:t>
            </a:r>
            <a:endParaRPr lang="en-US" sz="3200" b="0" u="none" strike="noStrike">
              <a:solidFill>
                <a:srgbClr val="000000"/>
              </a:solidFill>
              <a:effectLst/>
              <a:uFillTx/>
              <a:latin typeface="Verdana"/>
            </a:endParaRPr>
          </a:p>
          <a:p>
            <a:pPr marL="2057400" lvl="4" indent="-228600" algn="l">
              <a:spcBef>
                <a:spcPts val="799"/>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Fifth Outline Level</a:t>
            </a:r>
            <a:endParaRPr lang="en-US" sz="3200" b="0" u="none" strike="noStrike">
              <a:solidFill>
                <a:srgbClr val="000000"/>
              </a:solidFill>
              <a:effectLst/>
              <a:uFillTx/>
              <a:latin typeface="Verdana"/>
            </a:endParaRPr>
          </a:p>
          <a:p>
            <a:pPr marL="2057400" lvl="5" indent="-228600"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Sixth Outline Level</a:t>
            </a:r>
            <a:endParaRPr lang="en-US" sz="3200" b="0" u="none" strike="noStrike">
              <a:solidFill>
                <a:srgbClr val="000000"/>
              </a:solidFill>
              <a:effectLst/>
              <a:uFillTx/>
              <a:latin typeface="Verdana"/>
            </a:endParaRPr>
          </a:p>
          <a:p>
            <a:pPr marL="2057400" lvl="6" indent="-228600" algn="l">
              <a:spcBef>
                <a:spcPts val="799"/>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Seventh Outline Level</a:t>
            </a:r>
            <a:endParaRPr lang="en-US" sz="3200" b="0" u="none" strike="noStrike">
              <a:solidFill>
                <a:srgbClr val="000000"/>
              </a:solidFill>
              <a:effectLst/>
              <a:uFillTx/>
              <a:latin typeface="Verdana"/>
            </a:endParaRPr>
          </a:p>
        </p:txBody>
      </p:sp>
      <p:sp>
        <p:nvSpPr>
          <p:cNvPr id="26" name="PlaceHolder 3"/>
          <p:cNvSpPr>
            <a:spLocks noGrp="1"/>
          </p:cNvSpPr>
          <p:nvPr>
            <p:ph type="dt" idx="4"/>
          </p:nvPr>
        </p:nvSpPr>
        <p:spPr>
          <a:xfrm>
            <a:off x="990360" y="6248520"/>
            <a:ext cx="1904760" cy="457200"/>
          </a:xfrm>
          <a:prstGeom prst="rect">
            <a:avLst/>
          </a:prstGeom>
          <a:noFill/>
          <a:ln w="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 name="PlaceHolder 4"/>
          <p:cNvSpPr>
            <a:spLocks noGrp="1"/>
          </p:cNvSpPr>
          <p:nvPr>
            <p:ph type="ftr" idx="5"/>
          </p:nvPr>
        </p:nvSpPr>
        <p:spPr>
          <a:xfrm>
            <a:off x="3428640" y="6248520"/>
            <a:ext cx="2895480" cy="457200"/>
          </a:xfrm>
          <a:prstGeom prst="rect">
            <a:avLst/>
          </a:prstGeom>
          <a:noFill/>
          <a:ln w="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 name="PlaceHolder 5"/>
          <p:cNvSpPr>
            <a:spLocks noGrp="1"/>
          </p:cNvSpPr>
          <p:nvPr>
            <p:ph type="sldNum" idx="6"/>
          </p:nvPr>
        </p:nvSpPr>
        <p:spPr>
          <a:xfrm>
            <a:off x="6858000" y="6248520"/>
            <a:ext cx="1905120" cy="45720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1C1C1C"/>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FCF4487-0929-457B-8CD6-4B987B50C541}" type="slidenum">
              <a:rPr lang="en-US" sz="1400" b="0" u="none" strike="noStrike">
                <a:solidFill>
                  <a:srgbClr val="1C1C1C"/>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wmf"/><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oleObject" Target="../embeddings/oleObject2.bin"/><Relationship Id="rId2" Type="http://schemas.openxmlformats.org/officeDocument/2006/relationships/image" Target="../media/image5.wmf"/><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oleObject" Target="../embeddings/oleObject3.bin"/><Relationship Id="rId2" Type="http://schemas.openxmlformats.org/officeDocument/2006/relationships/image" Target="../media/image10.emf"/><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oleObject" Target="../embeddings/oleObject4.bin"/><Relationship Id="rId2" Type="http://schemas.openxmlformats.org/officeDocument/2006/relationships/image" Target="../media/image12.wmf"/><Relationship Id="rId3"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oleObject" Target="../embeddings/oleObject5.bin"/><Relationship Id="rId2" Type="http://schemas.openxmlformats.org/officeDocument/2006/relationships/image" Target="../media/image15.wmf"/><Relationship Id="rId3"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oleObject" Target="../embeddings/oleObject6.bin"/><Relationship Id="rId2" Type="http://schemas.openxmlformats.org/officeDocument/2006/relationships/image" Target="../media/image21.emf"/><Relationship Id="rId3"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oleObject" Target="../embeddings/oleObject7.bin"/><Relationship Id="rId2" Type="http://schemas.openxmlformats.org/officeDocument/2006/relationships/image" Target="../media/image25.png"/><Relationship Id="rId3"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oleObject" Target="../embeddings/oleObject8.bin"/><Relationship Id="rId2" Type="http://schemas.openxmlformats.org/officeDocument/2006/relationships/image" Target="../media/image26.png"/><Relationship Id="rId3"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oleObject" Target="../embeddings/oleObject9.bin"/><Relationship Id="rId2" Type="http://schemas.openxmlformats.org/officeDocument/2006/relationships/image" Target="../media/image27.png"/><Relationship Id="rId3"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oleObject" Target="../embeddings/oleObject10.bin"/><Relationship Id="rId2" Type="http://schemas.openxmlformats.org/officeDocument/2006/relationships/image" Target="../media/image28.emf"/><Relationship Id="rId3"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990720" y="2374920"/>
            <a:ext cx="7772400" cy="59688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Chapter 2</a:t>
            </a:r>
            <a:endParaRPr lang="en-US" sz="4400" b="0" u="none" strike="noStrike">
              <a:solidFill>
                <a:srgbClr val="333399"/>
              </a:solidFill>
              <a:effectLst/>
              <a:uFillTx/>
              <a:latin typeface="Verdana"/>
            </a:endParaRPr>
          </a:p>
        </p:txBody>
      </p:sp>
      <p:sp>
        <p:nvSpPr>
          <p:cNvPr id="30" name="PlaceHolder 2"/>
          <p:cNvSpPr>
            <a:spLocks noGrp="1"/>
          </p:cNvSpPr>
          <p:nvPr>
            <p:ph type="subTitle"/>
          </p:nvPr>
        </p:nvSpPr>
        <p:spPr>
          <a:xfrm>
            <a:off x="1371600" y="3886200"/>
            <a:ext cx="6400800" cy="1752480"/>
          </a:xfrm>
          <a:prstGeom prst="rect">
            <a:avLst/>
          </a:prstGeom>
          <a:noFill/>
          <a:ln w="0">
            <a:noFill/>
          </a:ln>
        </p:spPr>
        <p:txBody>
          <a:bodyPr lIns="91440" tIns="45720" rIns="91440" bIns="45720" anchor="t">
            <a:noAutofit/>
          </a:bodyPr>
          <a:p>
            <a:pPr indent="0" algn="ctr">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indent="0" algn="ctr">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Motion in One Dimension</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Dynamics</a:t>
            </a:r>
            <a:endParaRPr lang="en-US" sz="4400" b="0" u="none" strike="noStrike">
              <a:solidFill>
                <a:srgbClr val="333399"/>
              </a:solidFill>
              <a:effectLst/>
              <a:uFillTx/>
              <a:latin typeface="Verdana"/>
            </a:endParaRPr>
          </a:p>
        </p:txBody>
      </p:sp>
      <p:sp>
        <p:nvSpPr>
          <p:cNvPr id="32"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Dynamics is the branch of physics involving the motion of an object and the relationship between that motion and other physics concepts</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i="1" u="none" strike="noStrike">
                <a:solidFill>
                  <a:srgbClr val="000000"/>
                </a:solidFill>
                <a:effectLst/>
                <a:uFillTx/>
                <a:latin typeface="Verdana"/>
              </a:rPr>
              <a:t>Kinematics</a:t>
            </a:r>
            <a:r>
              <a:rPr lang="en-US" sz="3200" b="0" u="none" strike="noStrike">
                <a:solidFill>
                  <a:srgbClr val="000000"/>
                </a:solidFill>
                <a:effectLst/>
                <a:uFillTx/>
                <a:latin typeface="Verdana"/>
              </a:rPr>
              <a:t> is a part of dynamics</a:t>
            </a:r>
            <a:endParaRPr lang="en-US" sz="32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In kinematics, we are interested in the </a:t>
            </a:r>
            <a:r>
              <a:rPr lang="en-US" sz="2800" b="0" i="1" u="none" strike="noStrike">
                <a:solidFill>
                  <a:srgbClr val="000000"/>
                </a:solidFill>
                <a:effectLst/>
                <a:uFillTx/>
                <a:latin typeface="Verdana"/>
              </a:rPr>
              <a:t>description</a:t>
            </a:r>
            <a:r>
              <a:rPr lang="en-US" sz="2800" b="0" u="none" strike="noStrike">
                <a:solidFill>
                  <a:srgbClr val="000000"/>
                </a:solidFill>
                <a:effectLst/>
                <a:uFillTx/>
                <a:latin typeface="Verdana"/>
              </a:rPr>
              <a:t> of motion</a:t>
            </a:r>
            <a:endParaRPr lang="en-US" sz="28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i="1" u="none" strike="noStrike">
                <a:solidFill>
                  <a:srgbClr val="000000"/>
                </a:solidFill>
                <a:effectLst/>
                <a:uFillTx/>
                <a:latin typeface="Verdana"/>
              </a:rPr>
              <a:t>Not</a:t>
            </a:r>
            <a:r>
              <a:rPr lang="en-US" sz="2800" b="0" u="none" strike="noStrike">
                <a:solidFill>
                  <a:srgbClr val="000000"/>
                </a:solidFill>
                <a:effectLst/>
                <a:uFillTx/>
                <a:latin typeface="Verdana"/>
              </a:rPr>
              <a:t> concerned with the cause of the motion</a:t>
            </a:r>
            <a:endParaRPr lang="en-US" sz="28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Quantities in Motion</a:t>
            </a:r>
            <a:endParaRPr lang="en-US" sz="4400" b="0" u="none" strike="noStrike">
              <a:solidFill>
                <a:srgbClr val="333399"/>
              </a:solidFill>
              <a:effectLst/>
              <a:uFillTx/>
              <a:latin typeface="Verdana"/>
            </a:endParaRPr>
          </a:p>
        </p:txBody>
      </p:sp>
      <p:sp>
        <p:nvSpPr>
          <p:cNvPr id="34"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Any motion involves three physical concepts</a:t>
            </a:r>
            <a:endParaRPr lang="en-US" sz="3200" b="0" u="none" strike="noStrike">
              <a:solidFill>
                <a:srgbClr val="000000"/>
              </a:solidFill>
              <a:effectLst/>
              <a:uFillTx/>
              <a:latin typeface="Verdan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Displacement</a:t>
            </a:r>
            <a:endParaRPr lang="en-US" sz="2800" b="0" u="none" strike="noStrike">
              <a:solidFill>
                <a:srgbClr val="000000"/>
              </a:solidFill>
              <a:effectLst/>
              <a:uFillTx/>
              <a:latin typeface="Verdan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Velocity</a:t>
            </a:r>
            <a:endParaRPr lang="en-US" sz="2800" b="0" u="none" strike="noStrike">
              <a:solidFill>
                <a:srgbClr val="000000"/>
              </a:solidFill>
              <a:effectLst/>
              <a:uFillTx/>
              <a:latin typeface="Verdan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Acceleration</a:t>
            </a:r>
            <a:endParaRPr lang="en-US" sz="2800" b="0" u="none" strike="noStrike">
              <a:solidFill>
                <a:srgbClr val="000000"/>
              </a:solidFill>
              <a:effectLst/>
              <a:uFillTx/>
              <a:latin typeface="Verdana"/>
            </a:endParaRPr>
          </a:p>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These concepts can be used to study objects in motion</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Definition of Position</a:t>
            </a:r>
            <a:endParaRPr lang="en-US" sz="4400" b="0" u="none" strike="noStrike">
              <a:solidFill>
                <a:srgbClr val="333399"/>
              </a:solidFill>
              <a:effectLst/>
              <a:uFillTx/>
              <a:latin typeface="Verdana"/>
            </a:endParaRPr>
          </a:p>
        </p:txBody>
      </p:sp>
      <p:sp>
        <p:nvSpPr>
          <p:cNvPr id="36" name="PlaceHolder 2"/>
          <p:cNvSpPr>
            <a:spLocks noGrp="1"/>
          </p:cNvSpPr>
          <p:nvPr>
            <p:ph/>
          </p:nvPr>
        </p:nvSpPr>
        <p:spPr>
          <a:xfrm>
            <a:off x="1182600" y="2017800"/>
            <a:ext cx="7772400" cy="468792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Position of an object is defined in terms of a </a:t>
            </a:r>
            <a:r>
              <a:rPr lang="en-US" sz="3200" b="1" u="none" strike="noStrike">
                <a:solidFill>
                  <a:srgbClr val="000000"/>
                </a:solidFill>
                <a:effectLst/>
                <a:uFillTx/>
                <a:latin typeface="Verdana"/>
              </a:rPr>
              <a:t>frame of reference – coordinate system</a:t>
            </a:r>
            <a:endParaRPr lang="en-US" sz="32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A choice of coordinate axes </a:t>
            </a:r>
            <a:endParaRPr lang="en-US" sz="28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Defines a starting point for measuring  the motion – the origin</a:t>
            </a:r>
            <a:endParaRPr lang="en-US" sz="28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3333CC"/>
                </a:solidFill>
                <a:effectLst/>
                <a:uFillTx/>
                <a:latin typeface="Verdana"/>
              </a:rPr>
              <a:t>In this chapter, we shall concentrate on one dimensional motion</a:t>
            </a:r>
            <a:r>
              <a:rPr lang="en-US" sz="2800" b="0" u="none" strike="noStrike">
                <a:solidFill>
                  <a:srgbClr val="000000"/>
                </a:solidFill>
                <a:effectLst/>
                <a:uFillTx/>
                <a:latin typeface="Verdana"/>
              </a:rPr>
              <a:t>, so generally the x- axis is used.</a:t>
            </a:r>
            <a:endParaRPr lang="en-US" sz="28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1142640" y="60912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Displacement</a:t>
            </a:r>
            <a:endParaRPr lang="en-US" sz="4400" b="0" u="none" strike="noStrike">
              <a:solidFill>
                <a:srgbClr val="333399"/>
              </a:solidFill>
              <a:effectLst/>
              <a:uFillTx/>
              <a:latin typeface="Verdana"/>
            </a:endParaRPr>
          </a:p>
        </p:txBody>
      </p:sp>
      <p:sp>
        <p:nvSpPr>
          <p:cNvPr id="38" name="PlaceHolder 2"/>
          <p:cNvSpPr>
            <a:spLocks noGrp="1"/>
          </p:cNvSpPr>
          <p:nvPr>
            <p:ph/>
          </p:nvPr>
        </p:nvSpPr>
        <p:spPr>
          <a:xfrm>
            <a:off x="1182600" y="2017800"/>
            <a:ext cx="7772400" cy="5145120"/>
          </a:xfrm>
          <a:prstGeom prst="rect">
            <a:avLst/>
          </a:prstGeom>
          <a:noFill/>
          <a:ln w="0">
            <a:noFill/>
          </a:ln>
        </p:spPr>
        <p:txBody>
          <a:bodyPr lIns="91440" tIns="45720" rIns="91440" bIns="45720" anchor="t">
            <a:normAutofit/>
          </a:bodyPr>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Displacement is defined as the </a:t>
            </a:r>
            <a:r>
              <a:rPr lang="en-US" sz="3200" b="0" i="1" u="none" strike="noStrike">
                <a:solidFill>
                  <a:srgbClr val="FF0000"/>
                </a:solidFill>
                <a:effectLst/>
                <a:uFillTx/>
                <a:latin typeface="Verdana"/>
              </a:rPr>
              <a:t>change in position</a:t>
            </a:r>
            <a:endParaRPr lang="en-US" sz="3200" b="0" u="none" strike="noStrike">
              <a:solidFill>
                <a:srgbClr val="000000"/>
              </a:solidFill>
              <a:effectLst/>
              <a:uFillTx/>
              <a:latin typeface="Verdana"/>
            </a:endParaRPr>
          </a:p>
          <a:p>
            <a:pPr marL="343080" indent="0" algn="l">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marL="343080" indent="0" algn="l">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Here, f stands for the </a:t>
            </a:r>
            <a:r>
              <a:rPr lang="en-US" sz="3200" b="0" u="none" strike="noStrike">
                <a:solidFill>
                  <a:srgbClr val="FF0000"/>
                </a:solidFill>
                <a:effectLst/>
                <a:uFillTx/>
                <a:latin typeface="Verdana"/>
              </a:rPr>
              <a:t>final state </a:t>
            </a:r>
            <a:r>
              <a:rPr lang="en-US" sz="3200" b="0" u="none" strike="noStrike">
                <a:solidFill>
                  <a:srgbClr val="000000"/>
                </a:solidFill>
                <a:effectLst/>
                <a:uFillTx/>
                <a:latin typeface="Verdana"/>
              </a:rPr>
              <a:t>and i stands for the </a:t>
            </a:r>
            <a:r>
              <a:rPr lang="en-US" sz="3200" b="0" u="none" strike="noStrike">
                <a:solidFill>
                  <a:srgbClr val="FF0000"/>
                </a:solidFill>
                <a:effectLst/>
                <a:uFillTx/>
                <a:latin typeface="Verdana"/>
              </a:rPr>
              <a:t>initial state</a:t>
            </a:r>
            <a:endParaRPr lang="en-US" sz="3200" b="0" u="none" strike="noStrike">
              <a:solidFill>
                <a:srgbClr val="000000"/>
              </a:solidFill>
              <a:effectLst/>
              <a:uFillTx/>
              <a:latin typeface="Verdana"/>
            </a:endParaRPr>
          </a:p>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FF0000"/>
                </a:solidFill>
                <a:effectLst/>
                <a:uFillTx/>
                <a:latin typeface="Verdana"/>
              </a:rPr>
              <a:t>Displacement can be either “+” or “-”</a:t>
            </a:r>
            <a:endParaRPr lang="en-US" sz="3200" b="0" u="none" strike="noStrike">
              <a:solidFill>
                <a:srgbClr val="000000"/>
              </a:solidFill>
              <a:effectLst/>
              <a:uFillTx/>
              <a:latin typeface="Verdana"/>
            </a:endParaRPr>
          </a:p>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Units are meters (m) in SI</a:t>
            </a:r>
            <a:endParaRPr lang="en-US" sz="3200" b="0" u="none" strike="noStrike">
              <a:solidFill>
                <a:srgbClr val="000000"/>
              </a:solidFill>
              <a:effectLst/>
              <a:uFillTx/>
              <a:latin typeface="Verdana"/>
            </a:endParaRPr>
          </a:p>
        </p:txBody>
      </p:sp>
      <p:graphicFrame>
        <p:nvGraphicFramePr>
          <p:cNvPr id="39" name="Object 4"/>
          <p:cNvGraphicFramePr/>
          <p:nvPr/>
        </p:nvGraphicFramePr>
        <p:xfrm>
          <a:off x="2057400" y="3276720"/>
          <a:ext cx="2133720" cy="618840"/>
        </p:xfrm>
        <a:graphic>
          <a:graphicData uri="http://schemas.openxmlformats.org/presentationml/2006/ole">
            <p:oleObj r:id="rId1" spid="">
              <p:embed/>
              <p:pic>
                <p:nvPicPr>
                  <p:cNvPr id="40" name="Object 4"/>
                  <p:cNvPicPr/>
                  <p:nvPr/>
                </p:nvPicPr>
                <p:blipFill>
                  <a:blip r:embed="rId2"/>
                  <a:stretch/>
                </p:blipFill>
                <p:spPr>
                  <a:xfrm>
                    <a:off x="2057400" y="3276720"/>
                    <a:ext cx="2133720" cy="6188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Vector and Scalar Quantities</a:t>
            </a:r>
            <a:endParaRPr lang="en-US" sz="4400" b="0" u="none" strike="noStrike">
              <a:solidFill>
                <a:srgbClr val="333399"/>
              </a:solidFill>
              <a:effectLst/>
              <a:uFillTx/>
              <a:latin typeface="Verdana"/>
            </a:endParaRPr>
          </a:p>
        </p:txBody>
      </p:sp>
      <p:sp>
        <p:nvSpPr>
          <p:cNvPr id="42" name="PlaceHolder 2"/>
          <p:cNvSpPr>
            <a:spLocks noGrp="1"/>
          </p:cNvSpPr>
          <p:nvPr>
            <p:ph/>
          </p:nvPr>
        </p:nvSpPr>
        <p:spPr>
          <a:xfrm>
            <a:off x="1182600" y="2017440"/>
            <a:ext cx="7772400" cy="476388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Vector quantities need both </a:t>
            </a:r>
            <a:r>
              <a:rPr lang="en-US" sz="3200" b="0" u="none" strike="noStrike">
                <a:solidFill>
                  <a:srgbClr val="FF0000"/>
                </a:solidFill>
                <a:effectLst/>
                <a:uFillTx/>
                <a:latin typeface="Verdana"/>
              </a:rPr>
              <a:t>magnitude</a:t>
            </a:r>
            <a:r>
              <a:rPr lang="en-US" sz="3200" b="0" u="none" strike="noStrike">
                <a:solidFill>
                  <a:srgbClr val="000000"/>
                </a:solidFill>
                <a:effectLst/>
                <a:uFillTx/>
                <a:latin typeface="Verdana"/>
              </a:rPr>
              <a:t> (size) and </a:t>
            </a:r>
            <a:r>
              <a:rPr lang="en-US" sz="3200" b="0" u="none" strike="noStrike">
                <a:solidFill>
                  <a:srgbClr val="FF0000"/>
                </a:solidFill>
                <a:effectLst/>
                <a:uFillTx/>
                <a:latin typeface="Verdana"/>
              </a:rPr>
              <a:t>direction</a:t>
            </a:r>
            <a:r>
              <a:rPr lang="en-US" sz="3200" b="0" u="none" strike="noStrike">
                <a:solidFill>
                  <a:srgbClr val="000000"/>
                </a:solidFill>
                <a:effectLst/>
                <a:uFillTx/>
                <a:latin typeface="Verdana"/>
              </a:rPr>
              <a:t> to completely describe them</a:t>
            </a:r>
            <a:endParaRPr lang="en-US" sz="32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FF0000"/>
                </a:solidFill>
                <a:effectLst/>
                <a:uFillTx/>
                <a:latin typeface="Verdana"/>
              </a:rPr>
              <a:t>In one-dimensional motion, because there are only two directions, “+” or “–” sign of the quantities is sufficient to specify the direction</a:t>
            </a:r>
            <a:endParaRPr lang="en-US" sz="28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Scalar quantities are completely described by magnitude only</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Displacement is a vector</a:t>
            </a:r>
            <a:endParaRPr lang="en-US" sz="3200" b="0" u="none" strike="noStrike">
              <a:solidFill>
                <a:srgbClr val="000000"/>
              </a:solidFill>
              <a:effectLst/>
              <a:uFillTx/>
              <a:latin typeface="Verdana"/>
            </a:endParaRPr>
          </a:p>
          <a:p>
            <a:pPr marL="343080" indent="0" algn="l">
              <a:lnSpc>
                <a:spcPct val="9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extBox 1"/>
          <p:cNvSpPr/>
          <p:nvPr/>
        </p:nvSpPr>
        <p:spPr>
          <a:xfrm>
            <a:off x="1219320" y="1981080"/>
            <a:ext cx="7238880" cy="210600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Tahoma"/>
              </a:rPr>
              <a:t>Examples of a vector quantity:</a:t>
            </a:r>
            <a:endParaRPr lang="en-US" sz="3600" b="0" u="none" strike="noStrike">
              <a:solidFill>
                <a:srgbClr val="000000"/>
              </a:solidFill>
              <a:effectLst/>
              <a:uFillTx/>
              <a:latin typeface="Tahoma"/>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FF0000"/>
                </a:solidFill>
                <a:effectLst/>
                <a:uFillTx/>
                <a:latin typeface="Tahoma"/>
              </a:rPr>
              <a:t>Displacement, velocity, acceleration, force, torque, momentum, angular momentum</a:t>
            </a:r>
            <a:endParaRPr lang="en-US" sz="3200" b="0" u="none" strike="noStrike">
              <a:solidFill>
                <a:srgbClr val="000000"/>
              </a:solidFill>
              <a:effectLst/>
              <a:uFillTx/>
              <a:latin typeface="Tahoma"/>
            </a:endParaRPr>
          </a:p>
        </p:txBody>
      </p:sp>
      <p:sp>
        <p:nvSpPr>
          <p:cNvPr id="44" name="TextBox 2"/>
          <p:cNvSpPr/>
          <p:nvPr/>
        </p:nvSpPr>
        <p:spPr>
          <a:xfrm flipH="1">
            <a:off x="1215360" y="4365720"/>
            <a:ext cx="6629400" cy="259380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Tahoma"/>
              </a:rPr>
              <a:t>Examples of a scalar quantity:</a:t>
            </a:r>
            <a:endParaRPr lang="en-US" sz="3600" b="0" u="none" strike="noStrike">
              <a:solidFill>
                <a:srgbClr val="000000"/>
              </a:solidFill>
              <a:effectLst/>
              <a:uFillTx/>
              <a:latin typeface="Tahoma"/>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FF0000"/>
                </a:solidFill>
                <a:effectLst/>
                <a:uFillTx/>
                <a:latin typeface="Tahoma"/>
              </a:rPr>
              <a:t>Mass, density, temperature, weight, volume, speed, work, kinetic energy, potential energy </a:t>
            </a:r>
            <a:endParaRPr lang="en-US" sz="3200" b="0" u="none" strike="noStrike">
              <a:solidFill>
                <a:srgbClr val="000000"/>
              </a:solidFill>
              <a:effectLst/>
              <a:uFillTx/>
              <a:latin typeface="Tahoma"/>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Displacement Examples</a:t>
            </a:r>
            <a:endParaRPr lang="en-US" sz="4400" b="0" u="none" strike="noStrike">
              <a:solidFill>
                <a:srgbClr val="333399"/>
              </a:solidFill>
              <a:effectLst/>
              <a:uFillTx/>
              <a:latin typeface="Verdana"/>
            </a:endParaRPr>
          </a:p>
        </p:txBody>
      </p:sp>
      <p:sp>
        <p:nvSpPr>
          <p:cNvPr id="46" name="PlaceHolder 2"/>
          <p:cNvSpPr>
            <a:spLocks noGrp="1"/>
          </p:cNvSpPr>
          <p:nvPr>
            <p:ph/>
          </p:nvPr>
        </p:nvSpPr>
        <p:spPr>
          <a:xfrm>
            <a:off x="1182600" y="2017800"/>
            <a:ext cx="3810240" cy="4114800"/>
          </a:xfrm>
          <a:prstGeom prst="rect">
            <a:avLst/>
          </a:prstGeom>
          <a:noFill/>
          <a:ln w="0">
            <a:noFill/>
          </a:ln>
        </p:spPr>
        <p:txBody>
          <a:bodyPr lIns="91440" tIns="45720" rIns="91440" bIns="45720" anchor="t">
            <a:normAutofit/>
          </a:bodyPr>
          <a:p>
            <a:pPr marL="343080" indent="-343080" algn="l">
              <a:lnSpc>
                <a:spcPct val="80000"/>
              </a:lnSpc>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Verdana"/>
              </a:rPr>
              <a:t>From A to B</a:t>
            </a:r>
            <a:endParaRPr lang="en-US" sz="18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Verdana"/>
              </a:rPr>
              <a:t>x</a:t>
            </a:r>
            <a:r>
              <a:rPr lang="en-US" sz="1600" b="0" u="none" strike="noStrike" baseline="-25000">
                <a:solidFill>
                  <a:srgbClr val="000000"/>
                </a:solidFill>
                <a:effectLst/>
                <a:uFillTx/>
                <a:latin typeface="Verdana"/>
              </a:rPr>
              <a:t>i</a:t>
            </a:r>
            <a:r>
              <a:rPr lang="en-US" sz="1600" b="0" u="none" strike="noStrike">
                <a:solidFill>
                  <a:srgbClr val="000000"/>
                </a:solidFill>
                <a:effectLst/>
                <a:uFillTx/>
                <a:latin typeface="Verdana"/>
              </a:rPr>
              <a:t> = 30 m</a:t>
            </a:r>
            <a:endParaRPr lang="en-US" sz="16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Verdana"/>
              </a:rPr>
              <a:t>x</a:t>
            </a:r>
            <a:r>
              <a:rPr lang="en-US" sz="1600" b="0" u="none" strike="noStrike" baseline="-25000">
                <a:solidFill>
                  <a:srgbClr val="000000"/>
                </a:solidFill>
                <a:effectLst/>
                <a:uFillTx/>
                <a:latin typeface="Verdana"/>
              </a:rPr>
              <a:t>f</a:t>
            </a:r>
            <a:r>
              <a:rPr lang="en-US" sz="1600" b="0" u="none" strike="noStrike">
                <a:solidFill>
                  <a:srgbClr val="000000"/>
                </a:solidFill>
                <a:effectLst/>
                <a:uFillTx/>
                <a:latin typeface="Verdana"/>
              </a:rPr>
              <a:t> = 52 m</a:t>
            </a:r>
            <a:endParaRPr lang="en-US" sz="16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Symbol"/>
                <a:ea typeface="Symbol"/>
              </a:rPr>
              <a:t></a:t>
            </a:r>
            <a:r>
              <a:rPr lang="en-US" sz="1600" b="0" u="none" strike="noStrike">
                <a:solidFill>
                  <a:srgbClr val="000000"/>
                </a:solidFill>
                <a:effectLst/>
                <a:uFillTx/>
                <a:latin typeface="Verdana"/>
              </a:rPr>
              <a:t>x = 22 m</a:t>
            </a:r>
            <a:endParaRPr lang="en-US" sz="16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Verdana"/>
              </a:rPr>
              <a:t>The displacement is positive, indicating the motion was in the positive x direction</a:t>
            </a:r>
            <a:endParaRPr lang="en-US" sz="1600" b="0" u="none" strike="noStrike">
              <a:solidFill>
                <a:srgbClr val="000000"/>
              </a:solidFill>
              <a:effectLst/>
              <a:uFillTx/>
              <a:latin typeface="Verdana"/>
            </a:endParaRPr>
          </a:p>
          <a:p>
            <a:pPr marL="343080" indent="-343080" algn="l">
              <a:lnSpc>
                <a:spcPct val="80000"/>
              </a:lnSpc>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Verdana"/>
              </a:rPr>
              <a:t>From C to F</a:t>
            </a:r>
            <a:endParaRPr lang="en-US" sz="18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Verdana"/>
              </a:rPr>
              <a:t>x</a:t>
            </a:r>
            <a:r>
              <a:rPr lang="en-US" sz="1600" b="0" u="none" strike="noStrike" baseline="-25000">
                <a:solidFill>
                  <a:srgbClr val="000000"/>
                </a:solidFill>
                <a:effectLst/>
                <a:uFillTx/>
                <a:latin typeface="Verdana"/>
              </a:rPr>
              <a:t>i</a:t>
            </a:r>
            <a:r>
              <a:rPr lang="en-US" sz="1600" b="0" u="none" strike="noStrike">
                <a:solidFill>
                  <a:srgbClr val="000000"/>
                </a:solidFill>
                <a:effectLst/>
                <a:uFillTx/>
                <a:latin typeface="Verdana"/>
              </a:rPr>
              <a:t> = 38 m</a:t>
            </a:r>
            <a:endParaRPr lang="en-US" sz="16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Verdana"/>
              </a:rPr>
              <a:t>x</a:t>
            </a:r>
            <a:r>
              <a:rPr lang="en-US" sz="1600" b="0" u="none" strike="noStrike" baseline="-25000">
                <a:solidFill>
                  <a:srgbClr val="000000"/>
                </a:solidFill>
                <a:effectLst/>
                <a:uFillTx/>
                <a:latin typeface="Verdana"/>
              </a:rPr>
              <a:t>f</a:t>
            </a:r>
            <a:r>
              <a:rPr lang="en-US" sz="1600" b="0" u="none" strike="noStrike">
                <a:solidFill>
                  <a:srgbClr val="000000"/>
                </a:solidFill>
                <a:effectLst/>
                <a:uFillTx/>
                <a:latin typeface="Verdana"/>
              </a:rPr>
              <a:t> = -53 m</a:t>
            </a:r>
            <a:endParaRPr lang="en-US" sz="16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Symbol"/>
                <a:ea typeface="Symbol"/>
              </a:rPr>
              <a:t></a:t>
            </a:r>
            <a:r>
              <a:rPr lang="en-US" sz="1600" b="0" u="none" strike="noStrike">
                <a:solidFill>
                  <a:srgbClr val="000000"/>
                </a:solidFill>
                <a:effectLst/>
                <a:uFillTx/>
                <a:latin typeface="Verdana"/>
              </a:rPr>
              <a:t>x = -91 m</a:t>
            </a:r>
            <a:endParaRPr lang="en-US" sz="1600" b="0" u="none" strike="noStrike">
              <a:solidFill>
                <a:srgbClr val="000000"/>
              </a:solidFill>
              <a:effectLst/>
              <a:uFillTx/>
              <a:latin typeface="Verdana"/>
            </a:endParaRPr>
          </a:p>
          <a:p>
            <a:pPr marL="743040" lvl="1" indent="-285840" algn="l">
              <a:lnSpc>
                <a:spcPct val="80000"/>
              </a:lnSpc>
              <a:spcBef>
                <a:spcPts val="4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Verdana"/>
              </a:rPr>
              <a:t>The displacement is negative, indicating the motion was in the negative x direction</a:t>
            </a:r>
            <a:endParaRPr lang="en-US" sz="1600" b="0" u="none" strike="noStrike">
              <a:solidFill>
                <a:srgbClr val="000000"/>
              </a:solidFill>
              <a:effectLst/>
              <a:uFillTx/>
              <a:latin typeface="Verdana"/>
            </a:endParaRPr>
          </a:p>
        </p:txBody>
      </p:sp>
      <p:pic>
        <p:nvPicPr>
          <p:cNvPr id="47" name="Picture 6"/>
          <p:cNvPicPr/>
          <p:nvPr/>
        </p:nvPicPr>
        <p:blipFill>
          <a:blip r:embed="rId1"/>
          <a:stretch/>
        </p:blipFill>
        <p:spPr>
          <a:xfrm>
            <a:off x="5105520" y="2666880"/>
            <a:ext cx="3886200" cy="30006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Picture 1033" descr="0202a"/>
          <p:cNvPicPr/>
          <p:nvPr/>
        </p:nvPicPr>
        <p:blipFill>
          <a:blip r:embed="rId1"/>
          <a:stretch/>
        </p:blipFill>
        <p:spPr>
          <a:xfrm>
            <a:off x="304920" y="2057400"/>
            <a:ext cx="3846240" cy="2970360"/>
          </a:xfrm>
          <a:prstGeom prst="rect">
            <a:avLst/>
          </a:prstGeom>
          <a:noFill/>
          <a:ln w="0">
            <a:noFill/>
          </a:ln>
        </p:spPr>
      </p:pic>
      <p:sp>
        <p:nvSpPr>
          <p:cNvPr id="49" name="PlaceHolder 1"/>
          <p:cNvSpPr>
            <a:spLocks noGrp="1"/>
          </p:cNvSpPr>
          <p:nvPr>
            <p:ph type="title"/>
          </p:nvPr>
        </p:nvSpPr>
        <p:spPr>
          <a:xfrm>
            <a:off x="958680" y="304920"/>
            <a:ext cx="7793280" cy="128736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Graphical representation of Displacement</a:t>
            </a:r>
            <a:endParaRPr lang="en-US" sz="4400" b="0" u="none" strike="noStrike">
              <a:solidFill>
                <a:srgbClr val="333399"/>
              </a:solidFill>
              <a:effectLst/>
              <a:uFillTx/>
              <a:latin typeface="Verdana"/>
            </a:endParaRPr>
          </a:p>
        </p:txBody>
      </p:sp>
      <p:pic>
        <p:nvPicPr>
          <p:cNvPr id="50" name="Picture 1034" descr="0202b"/>
          <p:cNvPicPr/>
          <p:nvPr/>
        </p:nvPicPr>
        <p:blipFill>
          <a:blip r:embed="rId2"/>
          <a:stretch/>
        </p:blipFill>
        <p:spPr>
          <a:xfrm>
            <a:off x="4572000" y="3429000"/>
            <a:ext cx="4156200" cy="34304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Displacement Isn’t Distance</a:t>
            </a:r>
            <a:endParaRPr lang="en-US" sz="4400" b="0" u="none" strike="noStrike">
              <a:solidFill>
                <a:srgbClr val="333399"/>
              </a:solidFill>
              <a:effectLst/>
              <a:uFillTx/>
              <a:latin typeface="Verdana"/>
            </a:endParaRPr>
          </a:p>
        </p:txBody>
      </p:sp>
      <p:sp>
        <p:nvSpPr>
          <p:cNvPr id="52"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The </a:t>
            </a:r>
            <a:r>
              <a:rPr lang="en-US" sz="3200" b="0" u="none" strike="noStrike">
                <a:solidFill>
                  <a:srgbClr val="FF0000"/>
                </a:solidFill>
                <a:effectLst/>
                <a:uFillTx/>
                <a:latin typeface="Verdana"/>
              </a:rPr>
              <a:t>displacement</a:t>
            </a:r>
            <a:r>
              <a:rPr lang="en-US" sz="3200" b="0" u="none" strike="noStrike">
                <a:solidFill>
                  <a:srgbClr val="000000"/>
                </a:solidFill>
                <a:effectLst/>
                <a:uFillTx/>
                <a:latin typeface="Verdana"/>
              </a:rPr>
              <a:t> of an object is not the same as the </a:t>
            </a:r>
            <a:r>
              <a:rPr lang="en-US" sz="3200" b="0" u="none" strike="noStrike">
                <a:solidFill>
                  <a:srgbClr val="FF0000"/>
                </a:solidFill>
                <a:effectLst/>
                <a:uFillTx/>
                <a:latin typeface="Verdana"/>
              </a:rPr>
              <a:t>distance</a:t>
            </a:r>
            <a:r>
              <a:rPr lang="en-US" sz="3200" b="0" u="none" strike="noStrike">
                <a:solidFill>
                  <a:srgbClr val="000000"/>
                </a:solidFill>
                <a:effectLst/>
                <a:uFillTx/>
                <a:latin typeface="Verdana"/>
              </a:rPr>
              <a:t> it travels</a:t>
            </a:r>
            <a:endParaRPr lang="en-US" sz="3200" b="0" u="none" strike="noStrike">
              <a:solidFill>
                <a:srgbClr val="000000"/>
              </a:solidFill>
              <a:effectLst/>
              <a:uFillTx/>
              <a:latin typeface="Verdan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Example: Throw a ball straight up and then catch it at the same point as it was released</a:t>
            </a:r>
            <a:endParaRPr lang="en-US" sz="2800" b="0" u="none" strike="noStrike">
              <a:solidFill>
                <a:srgbClr val="000000"/>
              </a:solidFill>
              <a:effectLst/>
              <a:uFillTx/>
              <a:latin typeface="Verdan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The distance is twice the height</a:t>
            </a:r>
            <a:endParaRPr lang="en-US" sz="2400" b="0" u="none" strike="noStrike">
              <a:solidFill>
                <a:srgbClr val="000000"/>
              </a:solidFill>
              <a:effectLst/>
              <a:uFillTx/>
              <a:latin typeface="Verdan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The displacement is zero </a:t>
            </a:r>
            <a:endParaRPr lang="en-US" sz="2400" b="0" u="none" strike="noStrike">
              <a:solidFill>
                <a:srgbClr val="000000"/>
              </a:solidFill>
              <a:effectLst/>
              <a:uFillTx/>
              <a:latin typeface="Verdana"/>
            </a:endParaRPr>
          </a:p>
          <a:p>
            <a:pPr marL="343080" indent="0" algn="l">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Speed</a:t>
            </a:r>
            <a:endParaRPr lang="en-US" sz="4400" b="0" u="none" strike="noStrike">
              <a:solidFill>
                <a:srgbClr val="333399"/>
              </a:solidFill>
              <a:effectLst/>
              <a:uFillTx/>
              <a:latin typeface="Verdana"/>
            </a:endParaRPr>
          </a:p>
        </p:txBody>
      </p:sp>
      <p:sp>
        <p:nvSpPr>
          <p:cNvPr id="54"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lnSpc>
                <a:spcPct val="90000"/>
              </a:lnSpc>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a:t>
            </a:r>
            <a:r>
              <a:rPr lang="en-US" sz="2800" b="1" u="none" strike="noStrike">
                <a:solidFill>
                  <a:srgbClr val="000000"/>
                </a:solidFill>
                <a:effectLst/>
                <a:uFillTx/>
                <a:latin typeface="Verdana"/>
              </a:rPr>
              <a:t>average speed</a:t>
            </a:r>
            <a:r>
              <a:rPr lang="en-US" sz="2800" b="0" u="none" strike="noStrike">
                <a:solidFill>
                  <a:srgbClr val="000000"/>
                </a:solidFill>
                <a:effectLst/>
                <a:uFillTx/>
                <a:latin typeface="Verdana"/>
              </a:rPr>
              <a:t> of an object is defined as the total </a:t>
            </a:r>
            <a:r>
              <a:rPr lang="en-US" sz="2800" b="0" u="none" strike="noStrike">
                <a:solidFill>
                  <a:srgbClr val="FF0000"/>
                </a:solidFill>
                <a:effectLst/>
                <a:uFillTx/>
                <a:latin typeface="Verdana"/>
              </a:rPr>
              <a:t>distance </a:t>
            </a:r>
            <a:r>
              <a:rPr lang="en-US" sz="2800" b="0" u="none" strike="noStrike">
                <a:solidFill>
                  <a:srgbClr val="000000"/>
                </a:solidFill>
                <a:effectLst/>
                <a:uFillTx/>
                <a:latin typeface="Verdana"/>
              </a:rPr>
              <a:t>traveled divided by the total time elapsed</a:t>
            </a:r>
            <a:endParaRPr lang="en-US" sz="2800" b="0" u="none" strike="noStrike">
              <a:solidFill>
                <a:srgbClr val="000000"/>
              </a:solidFill>
              <a:effectLst/>
              <a:uFillTx/>
              <a:latin typeface="Verdana"/>
            </a:endParaRPr>
          </a:p>
          <a:p>
            <a:pPr marL="343080"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743040" lvl="1" indent="0" algn="l">
              <a:lnSpc>
                <a:spcPct val="9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Verdan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Speed is a scalar quantity</a:t>
            </a:r>
            <a:endParaRPr lang="en-US" sz="2400" b="0" u="none" strike="noStrike">
              <a:solidFill>
                <a:srgbClr val="000000"/>
              </a:solidFill>
              <a:effectLst/>
              <a:uFillTx/>
              <a:latin typeface="Verdana"/>
            </a:endParaRPr>
          </a:p>
        </p:txBody>
      </p:sp>
      <p:graphicFrame>
        <p:nvGraphicFramePr>
          <p:cNvPr id="55" name="Object 4"/>
          <p:cNvGraphicFramePr/>
          <p:nvPr/>
        </p:nvGraphicFramePr>
        <p:xfrm>
          <a:off x="1676520" y="3352680"/>
          <a:ext cx="5943600" cy="2075040"/>
        </p:xfrm>
        <a:graphic>
          <a:graphicData uri="http://schemas.openxmlformats.org/presentationml/2006/ole">
            <p:oleObj r:id="rId1" spid="">
              <p:embed/>
              <p:pic>
                <p:nvPicPr>
                  <p:cNvPr id="56" name="Object 4"/>
                  <p:cNvPicPr/>
                  <p:nvPr/>
                </p:nvPicPr>
                <p:blipFill>
                  <a:blip r:embed="rId2"/>
                  <a:stretch/>
                </p:blipFill>
                <p:spPr>
                  <a:xfrm>
                    <a:off x="1676520" y="3352680"/>
                    <a:ext cx="5943600" cy="20750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Speed, cont</a:t>
            </a:r>
            <a:endParaRPr lang="en-US" sz="4400" b="0" u="none" strike="noStrike">
              <a:solidFill>
                <a:srgbClr val="333399"/>
              </a:solidFill>
              <a:effectLst/>
              <a:uFillTx/>
              <a:latin typeface="Verdana"/>
            </a:endParaRPr>
          </a:p>
        </p:txBody>
      </p:sp>
      <p:sp>
        <p:nvSpPr>
          <p:cNvPr id="58"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lnSpcReduction="9999"/>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Average speed totally ignores any variations in the object’s actual motion during the trip</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The total distance and the total time are all that is important</a:t>
            </a:r>
            <a:endParaRPr lang="en-US" sz="32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Both the total distance and total time elapsed are positive, so speed is a positive quantity</a:t>
            </a:r>
            <a:endParaRPr lang="en-US" sz="28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SI units are m/s</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Picture 2"/>
          <p:cNvPicPr/>
          <p:nvPr/>
        </p:nvPicPr>
        <p:blipFill>
          <a:blip r:embed="rId1"/>
          <a:stretch/>
        </p:blipFill>
        <p:spPr>
          <a:xfrm>
            <a:off x="1295280" y="0"/>
            <a:ext cx="670572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Picture 2"/>
          <p:cNvPicPr/>
          <p:nvPr/>
        </p:nvPicPr>
        <p:blipFill>
          <a:blip r:embed="rId1"/>
          <a:stretch/>
        </p:blipFill>
        <p:spPr>
          <a:xfrm>
            <a:off x="1143000" y="0"/>
            <a:ext cx="716292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 name="Picture 2"/>
          <p:cNvPicPr/>
          <p:nvPr/>
        </p:nvPicPr>
        <p:blipFill>
          <a:blip r:embed="rId1"/>
          <a:stretch/>
        </p:blipFill>
        <p:spPr>
          <a:xfrm>
            <a:off x="1295280" y="0"/>
            <a:ext cx="70866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Picture 2"/>
          <p:cNvPicPr/>
          <p:nvPr/>
        </p:nvPicPr>
        <p:blipFill>
          <a:blip r:embed="rId1"/>
          <a:stretch/>
        </p:blipFill>
        <p:spPr>
          <a:xfrm>
            <a:off x="1143000" y="0"/>
            <a:ext cx="70866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Velocity</a:t>
            </a:r>
            <a:endParaRPr lang="en-US" sz="4400" b="0" u="none" strike="noStrike">
              <a:solidFill>
                <a:srgbClr val="333399"/>
              </a:solidFill>
              <a:effectLst/>
              <a:uFillTx/>
              <a:latin typeface="Verdana"/>
            </a:endParaRPr>
          </a:p>
        </p:txBody>
      </p:sp>
      <p:sp>
        <p:nvSpPr>
          <p:cNvPr id="64" name="PlaceHolder 2"/>
          <p:cNvSpPr>
            <a:spLocks noGrp="1"/>
          </p:cNvSpPr>
          <p:nvPr>
            <p:ph/>
          </p:nvPr>
        </p:nvSpPr>
        <p:spPr>
          <a:xfrm>
            <a:off x="1182600" y="2017440"/>
            <a:ext cx="7772400" cy="4840200"/>
          </a:xfrm>
          <a:prstGeom prst="rect">
            <a:avLst/>
          </a:prstGeom>
          <a:noFill/>
          <a:ln w="0">
            <a:noFill/>
          </a:ln>
        </p:spPr>
        <p:txBody>
          <a:bodyPr lIns="91440" tIns="45720" rIns="91440" bIns="45720" anchor="t">
            <a:normAutofit/>
          </a:bodyPr>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It takes time for an object to undergo a displacement</a:t>
            </a:r>
            <a:endParaRPr lang="en-US" sz="2800" b="0" u="none" strike="noStrike">
              <a:solidFill>
                <a:srgbClr val="000000"/>
              </a:solidFill>
              <a:effectLst/>
              <a:uFillTx/>
              <a:latin typeface="Verdan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a:t>
            </a:r>
            <a:r>
              <a:rPr lang="en-US" sz="2800" b="1" u="none" strike="noStrike">
                <a:solidFill>
                  <a:srgbClr val="000000"/>
                </a:solidFill>
                <a:effectLst/>
                <a:uFillTx/>
                <a:latin typeface="Verdana"/>
              </a:rPr>
              <a:t>average velocity</a:t>
            </a:r>
            <a:r>
              <a:rPr lang="en-US" sz="2800" b="0" u="none" strike="noStrike">
                <a:solidFill>
                  <a:srgbClr val="000000"/>
                </a:solidFill>
                <a:effectLst/>
                <a:uFillTx/>
                <a:latin typeface="Verdana"/>
              </a:rPr>
              <a:t> is the rate of change of displacement</a:t>
            </a:r>
            <a:endParaRPr lang="en-US" sz="2800" b="0" u="none" strike="noStrike">
              <a:solidFill>
                <a:srgbClr val="000000"/>
              </a:solidFill>
              <a:effectLst/>
              <a:uFillTx/>
              <a:latin typeface="Verdana"/>
            </a:endParaRPr>
          </a:p>
          <a:p>
            <a:pPr marL="343080" indent="0" algn="l">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0" algn="l">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Velocity is a vector quantity. It can be positive or negative, depending upon the sign of displacement</a:t>
            </a:r>
            <a:endParaRPr lang="en-US" sz="2800" b="0" u="none" strike="noStrike">
              <a:solidFill>
                <a:srgbClr val="000000"/>
              </a:solidFill>
              <a:effectLst/>
              <a:uFillTx/>
              <a:latin typeface="Verdan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Note: </a:t>
            </a:r>
            <a:r>
              <a:rPr lang="en-US" sz="2400" b="0" u="none" strike="noStrike">
                <a:solidFill>
                  <a:srgbClr val="000000"/>
                </a:solidFill>
                <a:effectLst/>
                <a:uFillTx/>
                <a:latin typeface="Symbol"/>
                <a:ea typeface="Symbol"/>
              </a:rPr>
              <a:t></a:t>
            </a:r>
            <a:r>
              <a:rPr lang="en-US" sz="2400" b="0" u="none" strike="noStrike">
                <a:solidFill>
                  <a:srgbClr val="000000"/>
                </a:solidFill>
                <a:effectLst/>
                <a:uFillTx/>
                <a:latin typeface="Verdana"/>
              </a:rPr>
              <a:t>t is always positive</a:t>
            </a:r>
            <a:endParaRPr lang="en-US" sz="2400" b="0" u="none" strike="noStrike">
              <a:solidFill>
                <a:srgbClr val="000000"/>
              </a:solidFill>
              <a:effectLst/>
              <a:uFillTx/>
              <a:latin typeface="Verdana"/>
            </a:endParaRPr>
          </a:p>
        </p:txBody>
      </p:sp>
      <p:graphicFrame>
        <p:nvGraphicFramePr>
          <p:cNvPr id="65" name="Object 4"/>
          <p:cNvGraphicFramePr/>
          <p:nvPr/>
        </p:nvGraphicFramePr>
        <p:xfrm>
          <a:off x="1828800" y="3962520"/>
          <a:ext cx="3986280" cy="1106280"/>
        </p:xfrm>
        <a:graphic>
          <a:graphicData uri="http://schemas.openxmlformats.org/presentationml/2006/ole">
            <p:oleObj r:id="rId1" spid="">
              <p:embed/>
              <p:pic>
                <p:nvPicPr>
                  <p:cNvPr id="66" name="Object 4"/>
                  <p:cNvPicPr/>
                  <p:nvPr/>
                </p:nvPicPr>
                <p:blipFill>
                  <a:blip r:embed="rId2"/>
                  <a:stretch/>
                </p:blipFill>
                <p:spPr>
                  <a:xfrm>
                    <a:off x="1828800" y="3962520"/>
                    <a:ext cx="3986280" cy="110628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Velocity continued</a:t>
            </a:r>
            <a:endParaRPr lang="en-US" sz="4400" b="0" u="none" strike="noStrike">
              <a:solidFill>
                <a:srgbClr val="333399"/>
              </a:solidFill>
              <a:effectLst/>
              <a:uFillTx/>
              <a:latin typeface="Verdana"/>
            </a:endParaRPr>
          </a:p>
        </p:txBody>
      </p:sp>
      <p:sp>
        <p:nvSpPr>
          <p:cNvPr id="68"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Direction will be the same as the direction of the displacement</a:t>
            </a:r>
            <a:endParaRPr lang="en-US" sz="2800" b="0" u="none" strike="noStrike">
              <a:solidFill>
                <a:srgbClr val="000000"/>
              </a:solidFill>
              <a:effectLst/>
              <a:uFillTx/>
              <a:latin typeface="Verdana"/>
            </a:endParaRPr>
          </a:p>
          <a:p>
            <a:pPr marL="343080" indent="0" algn="l">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Units of velocity are m/s (SI)</a:t>
            </a:r>
            <a:endParaRPr lang="en-US" sz="28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Speed vs. Velocity</a:t>
            </a:r>
            <a:endParaRPr lang="en-US" sz="4400" b="0" u="none" strike="noStrike">
              <a:solidFill>
                <a:srgbClr val="333399"/>
              </a:solidFill>
              <a:effectLst/>
              <a:uFillTx/>
              <a:latin typeface="Verdana"/>
            </a:endParaRPr>
          </a:p>
        </p:txBody>
      </p:sp>
      <p:sp>
        <p:nvSpPr>
          <p:cNvPr id="70" name="PlaceHolder 2"/>
          <p:cNvSpPr>
            <a:spLocks noGrp="1"/>
          </p:cNvSpPr>
          <p:nvPr>
            <p:ph/>
          </p:nvPr>
        </p:nvSpPr>
        <p:spPr>
          <a:xfrm>
            <a:off x="1182600" y="4150800"/>
            <a:ext cx="7772400" cy="2706840"/>
          </a:xfrm>
          <a:prstGeom prst="rect">
            <a:avLst/>
          </a:prstGeom>
          <a:noFill/>
          <a:ln w="0">
            <a:noFill/>
          </a:ln>
        </p:spPr>
        <p:txBody>
          <a:bodyPr lIns="91440" tIns="45720" rIns="91440" bIns="45720" anchor="t">
            <a:normAutofit/>
          </a:bodyPr>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Cars on both paths have the same average velocity since they had the same displacement in the same time interval, assuming that these two cars take the same time to go from P to Q</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The car on the blue path will have a greater average speed since the distance it traveled is larger</a:t>
            </a:r>
            <a:endParaRPr lang="en-US" sz="2400" b="0" u="none" strike="noStrike">
              <a:solidFill>
                <a:srgbClr val="000000"/>
              </a:solidFill>
              <a:effectLst/>
              <a:uFillTx/>
              <a:latin typeface="Verdana"/>
            </a:endParaRPr>
          </a:p>
        </p:txBody>
      </p:sp>
      <p:pic>
        <p:nvPicPr>
          <p:cNvPr id="71" name="Picture 8" descr="0203"/>
          <p:cNvPicPr/>
          <p:nvPr/>
        </p:nvPicPr>
        <p:blipFill>
          <a:blip r:embed="rId1"/>
          <a:stretch/>
        </p:blipFill>
        <p:spPr>
          <a:xfrm>
            <a:off x="88920" y="1981080"/>
            <a:ext cx="8966160" cy="21067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Notes on Slopes</a:t>
            </a:r>
            <a:endParaRPr lang="en-US" sz="4400" b="0" u="none" strike="noStrike">
              <a:solidFill>
                <a:srgbClr val="333399"/>
              </a:solidFill>
              <a:effectLst/>
              <a:uFillTx/>
              <a:latin typeface="Verdana"/>
            </a:endParaRPr>
          </a:p>
        </p:txBody>
      </p:sp>
      <p:sp>
        <p:nvSpPr>
          <p:cNvPr id="73" name="PlaceHolder 2"/>
          <p:cNvSpPr>
            <a:spLocks noGrp="1"/>
          </p:cNvSpPr>
          <p:nvPr>
            <p:ph/>
          </p:nvPr>
        </p:nvSpPr>
        <p:spPr>
          <a:xfrm>
            <a:off x="1182600" y="2017800"/>
            <a:ext cx="7772400" cy="461160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The general equation for the slope of any straight line is</a:t>
            </a:r>
            <a:endParaRPr lang="en-US" sz="3200" b="0" u="none" strike="noStrike">
              <a:solidFill>
                <a:srgbClr val="000000"/>
              </a:solidFill>
              <a:effectLst/>
              <a:uFillTx/>
              <a:latin typeface="Verdana"/>
            </a:endParaRPr>
          </a:p>
          <a:p>
            <a:pPr marL="343080" indent="0" algn="l">
              <a:lnSpc>
                <a:spcPct val="9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marL="343080" indent="0" algn="l">
              <a:lnSpc>
                <a:spcPct val="9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marL="743040" lvl="1" indent="-285840" algn="l">
              <a:lnSpc>
                <a:spcPct val="90000"/>
              </a:lnSpc>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meaning of a specific slope will depend on the physical data being graphed</a:t>
            </a:r>
            <a:endParaRPr lang="en-US" sz="2800" b="0" u="none" strike="noStrike">
              <a:solidFill>
                <a:srgbClr val="000000"/>
              </a:solidFill>
              <a:effectLst/>
              <a:uFillTx/>
              <a:latin typeface="Verdana"/>
            </a:endParaRPr>
          </a:p>
          <a:p>
            <a:pPr marL="743040" lvl="1"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Slope carries units</a:t>
            </a:r>
            <a:endParaRPr lang="en-US" sz="3200" b="0" u="none" strike="noStrike">
              <a:solidFill>
                <a:srgbClr val="000000"/>
              </a:solidFill>
              <a:effectLst/>
              <a:uFillTx/>
              <a:latin typeface="Verdana"/>
            </a:endParaRPr>
          </a:p>
        </p:txBody>
      </p:sp>
      <p:graphicFrame>
        <p:nvGraphicFramePr>
          <p:cNvPr id="74" name="Object 4"/>
          <p:cNvGraphicFramePr/>
          <p:nvPr/>
        </p:nvGraphicFramePr>
        <p:xfrm>
          <a:off x="1981080" y="2971800"/>
          <a:ext cx="5715000" cy="1179360"/>
        </p:xfrm>
        <a:graphic>
          <a:graphicData uri="http://schemas.openxmlformats.org/presentationml/2006/ole">
            <p:oleObj r:id="rId1" spid="">
              <p:embed/>
              <p:pic>
                <p:nvPicPr>
                  <p:cNvPr id="75" name="Object 4"/>
                  <p:cNvPicPr/>
                  <p:nvPr/>
                </p:nvPicPr>
                <p:blipFill>
                  <a:blip r:embed="rId2"/>
                  <a:stretch/>
                </p:blipFill>
                <p:spPr>
                  <a:xfrm>
                    <a:off x="1981080" y="2971800"/>
                    <a:ext cx="5715000" cy="117936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Graphical Interpretation of Velocity</a:t>
            </a:r>
            <a:endParaRPr lang="en-US" sz="4400" b="0" u="none" strike="noStrike">
              <a:solidFill>
                <a:srgbClr val="333399"/>
              </a:solidFill>
              <a:effectLst/>
              <a:uFillTx/>
              <a:latin typeface="Verdana"/>
            </a:endParaRPr>
          </a:p>
        </p:txBody>
      </p:sp>
      <p:sp>
        <p:nvSpPr>
          <p:cNvPr id="77" name="PlaceHolder 2"/>
          <p:cNvSpPr>
            <a:spLocks noGrp="1"/>
          </p:cNvSpPr>
          <p:nvPr>
            <p:ph/>
          </p:nvPr>
        </p:nvSpPr>
        <p:spPr>
          <a:xfrm>
            <a:off x="1243080" y="1766520"/>
            <a:ext cx="7772400" cy="518148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Velocity can be determined from a position-time graph</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From the definitions of the average velocity and the slope, average velocity equals </a:t>
            </a:r>
            <a:r>
              <a:rPr lang="en-US" sz="3200" b="0" u="none" strike="noStrike">
                <a:solidFill>
                  <a:srgbClr val="FF0000"/>
                </a:solidFill>
                <a:effectLst/>
                <a:uFillTx/>
                <a:latin typeface="Verdana"/>
              </a:rPr>
              <a:t>the slope of the line joining the initial and final positions in a position - time graph</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An object moving with a constant velocity will have a graph that is a straight line in a position – time graph</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Average Velocity, Constant</a:t>
            </a:r>
            <a:endParaRPr lang="en-US" sz="4400" b="0" u="none" strike="noStrike">
              <a:solidFill>
                <a:srgbClr val="333399"/>
              </a:solidFill>
              <a:effectLst/>
              <a:uFillTx/>
              <a:latin typeface="Verdana"/>
            </a:endParaRPr>
          </a:p>
        </p:txBody>
      </p:sp>
      <p:sp>
        <p:nvSpPr>
          <p:cNvPr id="79" name="PlaceHolder 2"/>
          <p:cNvSpPr>
            <a:spLocks noGrp="1"/>
          </p:cNvSpPr>
          <p:nvPr>
            <p:ph/>
          </p:nvPr>
        </p:nvSpPr>
        <p:spPr>
          <a:xfrm>
            <a:off x="304560" y="2133360"/>
            <a:ext cx="3809880" cy="3886200"/>
          </a:xfrm>
          <a:prstGeom prst="rect">
            <a:avLst/>
          </a:prstGeom>
          <a:noFill/>
          <a:ln w="0">
            <a:noFill/>
          </a:ln>
        </p:spPr>
        <p:txBody>
          <a:bodyPr lIns="91440" tIns="45720" rIns="91440" bIns="45720" anchor="t">
            <a:normAutofit/>
          </a:bodyPr>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slope of the straight line is the average velocity</a:t>
            </a:r>
            <a:endParaRPr lang="en-US" sz="2800" b="0" u="none" strike="noStrike">
              <a:solidFill>
                <a:srgbClr val="000000"/>
              </a:solidFill>
              <a:effectLst/>
              <a:uFillTx/>
              <a:latin typeface="Verdan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straight line in the position – time graph indicates velocity is a constant</a:t>
            </a:r>
            <a:endParaRPr lang="en-US" sz="2800" b="0" u="none" strike="noStrike">
              <a:solidFill>
                <a:srgbClr val="000000"/>
              </a:solidFill>
              <a:effectLst/>
              <a:uFillTx/>
              <a:latin typeface="Verdana"/>
            </a:endParaRPr>
          </a:p>
        </p:txBody>
      </p:sp>
      <p:pic>
        <p:nvPicPr>
          <p:cNvPr id="80" name="Picture 8" descr="0205a"/>
          <p:cNvPicPr/>
          <p:nvPr/>
        </p:nvPicPr>
        <p:blipFill>
          <a:blip r:embed="rId1"/>
          <a:stretch/>
        </p:blipFill>
        <p:spPr>
          <a:xfrm>
            <a:off x="4267080" y="1981080"/>
            <a:ext cx="4876920" cy="388620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Average Velocity, Non Constant</a:t>
            </a:r>
            <a:endParaRPr lang="en-US" sz="4400" b="0" u="none" strike="noStrike">
              <a:solidFill>
                <a:srgbClr val="333399"/>
              </a:solidFill>
              <a:effectLst/>
              <a:uFillTx/>
              <a:latin typeface="Verdana"/>
            </a:endParaRPr>
          </a:p>
        </p:txBody>
      </p:sp>
      <p:sp>
        <p:nvSpPr>
          <p:cNvPr id="82" name="PlaceHolder 2"/>
          <p:cNvSpPr>
            <a:spLocks noGrp="1"/>
          </p:cNvSpPr>
          <p:nvPr>
            <p:ph/>
          </p:nvPr>
        </p:nvSpPr>
        <p:spPr>
          <a:xfrm>
            <a:off x="152280" y="2362320"/>
            <a:ext cx="3810240" cy="4114800"/>
          </a:xfrm>
          <a:prstGeom prst="rect">
            <a:avLst/>
          </a:prstGeom>
          <a:noFill/>
          <a:ln w="0">
            <a:noFill/>
          </a:ln>
        </p:spPr>
        <p:txBody>
          <a:bodyPr lIns="91440" tIns="45720" rIns="91440" bIns="45720" anchor="t">
            <a:normAutofit/>
          </a:bodyPr>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average velocity is the slope of the straight line joining the initial and final points</a:t>
            </a:r>
            <a:endParaRPr lang="en-US" sz="2800" b="0" u="none" strike="noStrike">
              <a:solidFill>
                <a:srgbClr val="000000"/>
              </a:solidFill>
              <a:effectLst/>
              <a:uFillTx/>
              <a:latin typeface="Verdan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motion is non-constant velocity</a:t>
            </a:r>
            <a:endParaRPr lang="en-US" sz="2800" b="0" u="none" strike="noStrike">
              <a:solidFill>
                <a:srgbClr val="000000"/>
              </a:solidFill>
              <a:effectLst/>
              <a:uFillTx/>
              <a:latin typeface="Verdana"/>
            </a:endParaRPr>
          </a:p>
          <a:p>
            <a:pPr marL="343080" indent="0" algn="l">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p:txBody>
      </p:sp>
      <p:pic>
        <p:nvPicPr>
          <p:cNvPr id="83" name="Picture 10" descr="0205b"/>
          <p:cNvPicPr/>
          <p:nvPr/>
        </p:nvPicPr>
        <p:blipFill>
          <a:blip r:embed="rId1"/>
          <a:stretch/>
        </p:blipFill>
        <p:spPr>
          <a:xfrm>
            <a:off x="3962520" y="2546280"/>
            <a:ext cx="4992480" cy="400536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Instantaneous Velocity</a:t>
            </a:r>
            <a:endParaRPr lang="en-US" sz="4400" b="0" u="none" strike="noStrike">
              <a:solidFill>
                <a:srgbClr val="333399"/>
              </a:solidFill>
              <a:effectLst/>
              <a:uFillTx/>
              <a:latin typeface="Verdana"/>
            </a:endParaRPr>
          </a:p>
        </p:txBody>
      </p:sp>
      <p:sp>
        <p:nvSpPr>
          <p:cNvPr id="85"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lnSpc>
                <a:spcPct val="90000"/>
              </a:lnSpc>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limit of the average velocity as the time interval becomes infinitesimally short, or as the time interval approaches zero</a:t>
            </a:r>
            <a:endParaRPr lang="en-US" sz="2800" b="0" u="none" strike="noStrike">
              <a:solidFill>
                <a:srgbClr val="000000"/>
              </a:solidFill>
              <a:effectLst/>
              <a:uFillTx/>
              <a:latin typeface="Verdana"/>
            </a:endParaRPr>
          </a:p>
          <a:p>
            <a:pPr marL="343080"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0" algn="l">
              <a:lnSpc>
                <a:spcPct val="90000"/>
              </a:lnSpc>
              <a:spcBef>
                <a:spcPts val="7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Verdana"/>
            </a:endParaRPr>
          </a:p>
          <a:p>
            <a:pPr marL="343080" indent="-343080" algn="l">
              <a:lnSpc>
                <a:spcPct val="90000"/>
              </a:lnSpc>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instantaneous velocity indicates the velocity </a:t>
            </a:r>
            <a:r>
              <a:rPr lang="en-US" sz="2800" b="0" u="none" strike="noStrike">
                <a:solidFill>
                  <a:srgbClr val="FF0000"/>
                </a:solidFill>
                <a:effectLst/>
                <a:uFillTx/>
                <a:latin typeface="Verdana"/>
              </a:rPr>
              <a:t>at a given instant of time</a:t>
            </a:r>
            <a:endParaRPr lang="en-US" sz="2800" b="0" u="none" strike="noStrike">
              <a:solidFill>
                <a:srgbClr val="000000"/>
              </a:solidFill>
              <a:effectLst/>
              <a:uFillTx/>
              <a:latin typeface="Verdana"/>
            </a:endParaRPr>
          </a:p>
        </p:txBody>
      </p:sp>
      <p:graphicFrame>
        <p:nvGraphicFramePr>
          <p:cNvPr id="86" name="Object 4"/>
          <p:cNvGraphicFramePr/>
          <p:nvPr/>
        </p:nvGraphicFramePr>
        <p:xfrm>
          <a:off x="2362320" y="3657600"/>
          <a:ext cx="1904760" cy="952560"/>
        </p:xfrm>
        <a:graphic>
          <a:graphicData uri="http://schemas.openxmlformats.org/presentationml/2006/ole">
            <p:oleObj r:id="rId1" spid="">
              <p:embed/>
              <p:pic>
                <p:nvPicPr>
                  <p:cNvPr id="87" name="Object 4"/>
                  <p:cNvPicPr/>
                  <p:nvPr/>
                </p:nvPicPr>
                <p:blipFill>
                  <a:blip r:embed="rId2"/>
                  <a:stretch/>
                </p:blipFill>
                <p:spPr>
                  <a:xfrm>
                    <a:off x="2362320" y="3657600"/>
                    <a:ext cx="1904760" cy="95256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Instantaneous Velocity on a Graph</a:t>
            </a:r>
            <a:endParaRPr lang="en-US" sz="4400" b="0" u="none" strike="noStrike">
              <a:solidFill>
                <a:srgbClr val="333399"/>
              </a:solidFill>
              <a:effectLst/>
              <a:uFillTx/>
              <a:latin typeface="Verdana"/>
            </a:endParaRPr>
          </a:p>
        </p:txBody>
      </p:sp>
      <p:sp>
        <p:nvSpPr>
          <p:cNvPr id="89"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The slope of the straight line tangent to the </a:t>
            </a:r>
            <a:r>
              <a:rPr lang="en-US" sz="3200" b="0" u="none" strike="noStrike">
                <a:solidFill>
                  <a:srgbClr val="FF0000"/>
                </a:solidFill>
                <a:effectLst/>
                <a:uFillTx/>
                <a:latin typeface="Verdana"/>
              </a:rPr>
              <a:t>position-vs.-time</a:t>
            </a:r>
            <a:r>
              <a:rPr lang="en-US" sz="3200" b="0" u="none" strike="noStrike">
                <a:solidFill>
                  <a:srgbClr val="000000"/>
                </a:solidFill>
                <a:effectLst/>
                <a:uFillTx/>
                <a:latin typeface="Verdana"/>
              </a:rPr>
              <a:t> graph at a given time is defined to be the instantaneous velocity at that time</a:t>
            </a:r>
            <a:endParaRPr lang="en-US" sz="3200" b="0" u="none" strike="noStrike">
              <a:solidFill>
                <a:srgbClr val="000000"/>
              </a:solidFill>
              <a:effectLst/>
              <a:uFillTx/>
              <a:latin typeface="Verdan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The instantaneous speed is defined as the magnitude of the instantaneous velocity</a:t>
            </a:r>
            <a:endParaRPr lang="en-US" sz="28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Picture 4" descr="0207a"/>
          <p:cNvPicPr/>
          <p:nvPr/>
        </p:nvPicPr>
        <p:blipFill>
          <a:blip r:embed="rId1"/>
          <a:stretch/>
        </p:blipFill>
        <p:spPr>
          <a:xfrm>
            <a:off x="914400" y="0"/>
            <a:ext cx="7334280" cy="684216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Picture 2"/>
          <p:cNvPicPr/>
          <p:nvPr/>
        </p:nvPicPr>
        <p:blipFill>
          <a:blip r:embed="rId1"/>
          <a:stretch/>
        </p:blipFill>
        <p:spPr>
          <a:xfrm>
            <a:off x="1219320" y="0"/>
            <a:ext cx="693396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Picture 2"/>
          <p:cNvPicPr/>
          <p:nvPr/>
        </p:nvPicPr>
        <p:blipFill>
          <a:blip r:embed="rId1"/>
          <a:stretch/>
        </p:blipFill>
        <p:spPr>
          <a:xfrm>
            <a:off x="1371600" y="0"/>
            <a:ext cx="66294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Picture 2"/>
          <p:cNvPicPr/>
          <p:nvPr/>
        </p:nvPicPr>
        <p:blipFill>
          <a:blip r:embed="rId1"/>
          <a:stretch/>
        </p:blipFill>
        <p:spPr>
          <a:xfrm>
            <a:off x="1143000" y="0"/>
            <a:ext cx="693432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Picture 2"/>
          <p:cNvPicPr/>
          <p:nvPr/>
        </p:nvPicPr>
        <p:blipFill>
          <a:blip r:embed="rId1"/>
          <a:stretch/>
        </p:blipFill>
        <p:spPr>
          <a:xfrm>
            <a:off x="1143000" y="0"/>
            <a:ext cx="723888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1142640" y="60912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Average Acceleration</a:t>
            </a:r>
            <a:endParaRPr lang="en-US" sz="4400" b="0" u="none" strike="noStrike">
              <a:solidFill>
                <a:srgbClr val="333399"/>
              </a:solidFill>
              <a:effectLst/>
              <a:uFillTx/>
              <a:latin typeface="Verdana"/>
            </a:endParaRPr>
          </a:p>
        </p:txBody>
      </p:sp>
      <p:sp>
        <p:nvSpPr>
          <p:cNvPr id="96"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Changing velocity means an acceleration is present</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Average acceleration is defined as </a:t>
            </a:r>
            <a:r>
              <a:rPr lang="en-US" sz="3200" b="0" u="none" strike="noStrike">
                <a:solidFill>
                  <a:srgbClr val="FF0000"/>
                </a:solidFill>
                <a:effectLst/>
                <a:uFillTx/>
                <a:latin typeface="Verdana"/>
              </a:rPr>
              <a:t>the rate of change of velocity</a:t>
            </a:r>
            <a:endParaRPr lang="en-US" sz="3200" b="0" u="none" strike="noStrike">
              <a:solidFill>
                <a:srgbClr val="000000"/>
              </a:solidFill>
              <a:effectLst/>
              <a:uFillTx/>
              <a:latin typeface="Verdana"/>
            </a:endParaRPr>
          </a:p>
          <a:p>
            <a:pPr marL="343080" indent="0" algn="l">
              <a:lnSpc>
                <a:spcPct val="9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marL="343080" indent="0" algn="l">
              <a:lnSpc>
                <a:spcPct val="9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Units are m/s² (SI)</a:t>
            </a:r>
            <a:endParaRPr lang="en-US" sz="3200" b="0" u="none" strike="noStrike">
              <a:solidFill>
                <a:srgbClr val="000000"/>
              </a:solidFill>
              <a:effectLst/>
              <a:uFillTx/>
              <a:latin typeface="Verdana"/>
            </a:endParaRPr>
          </a:p>
          <a:p>
            <a:pPr marL="343080" indent="0" algn="l">
              <a:lnSpc>
                <a:spcPct val="9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p:txBody>
      </p:sp>
      <p:graphicFrame>
        <p:nvGraphicFramePr>
          <p:cNvPr id="97" name="Object 4"/>
          <p:cNvGraphicFramePr/>
          <p:nvPr/>
        </p:nvGraphicFramePr>
        <p:xfrm>
          <a:off x="1752480" y="3886200"/>
          <a:ext cx="3033720" cy="1117440"/>
        </p:xfrm>
        <a:graphic>
          <a:graphicData uri="http://schemas.openxmlformats.org/presentationml/2006/ole">
            <p:oleObj r:id="rId1" spid="">
              <p:embed/>
              <p:pic>
                <p:nvPicPr>
                  <p:cNvPr id="98" name="Object 4"/>
                  <p:cNvPicPr/>
                  <p:nvPr/>
                </p:nvPicPr>
                <p:blipFill>
                  <a:blip r:embed="rId2"/>
                  <a:stretch/>
                </p:blipFill>
                <p:spPr>
                  <a:xfrm>
                    <a:off x="1752480" y="3886200"/>
                    <a:ext cx="3033720" cy="11174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Average Acceleration</a:t>
            </a:r>
            <a:endParaRPr lang="en-US" sz="4400" b="0" u="none" strike="noStrike">
              <a:solidFill>
                <a:srgbClr val="333399"/>
              </a:solidFill>
              <a:effectLst/>
              <a:uFillTx/>
              <a:latin typeface="Verdana"/>
            </a:endParaRPr>
          </a:p>
        </p:txBody>
      </p:sp>
      <p:sp>
        <p:nvSpPr>
          <p:cNvPr id="100" name="PlaceHolder 2"/>
          <p:cNvSpPr>
            <a:spLocks noGrp="1"/>
          </p:cNvSpPr>
          <p:nvPr>
            <p:ph/>
          </p:nvPr>
        </p:nvSpPr>
        <p:spPr>
          <a:xfrm>
            <a:off x="1182600" y="2017800"/>
            <a:ext cx="7772400" cy="4535280"/>
          </a:xfrm>
          <a:prstGeom prst="rect">
            <a:avLst/>
          </a:prstGeom>
          <a:noFill/>
          <a:ln w="0">
            <a:noFill/>
          </a:ln>
        </p:spPr>
        <p:txBody>
          <a:bodyPr lIns="91440" tIns="45720" rIns="91440" bIns="45720" anchor="t">
            <a:normAutofit lnSpcReduction="9999"/>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Average acceleration is a vector quantity</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When the sign of the velocity and the acceleration are the same (either positive or negative), then the speed is increasing</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When the sign of the velocity and the acceleration are in the opposite directions, the speed is decreasing</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Negative Acceleration</a:t>
            </a:r>
            <a:endParaRPr lang="en-US" sz="4400" b="0" u="none" strike="noStrike">
              <a:solidFill>
                <a:srgbClr val="333399"/>
              </a:solidFill>
              <a:effectLst/>
              <a:uFillTx/>
              <a:latin typeface="Verdana"/>
            </a:endParaRPr>
          </a:p>
        </p:txBody>
      </p:sp>
      <p:sp>
        <p:nvSpPr>
          <p:cNvPr id="102"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A negative acceleration does not necessarily mean the object is slowing down</a:t>
            </a:r>
            <a:endParaRPr lang="en-US" sz="3200" b="0" u="none" strike="noStrike">
              <a:solidFill>
                <a:srgbClr val="000000"/>
              </a:solidFill>
              <a:effectLst/>
              <a:uFillTx/>
              <a:latin typeface="Verdana"/>
            </a:endParaRPr>
          </a:p>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If the acceleration and velocity are both negative, the object is speeding up (</a:t>
            </a:r>
            <a:r>
              <a:rPr lang="en-US" sz="3200" b="0" u="none" strike="noStrike">
                <a:solidFill>
                  <a:srgbClr val="FF0000"/>
                </a:solidFill>
                <a:effectLst/>
                <a:uFillTx/>
                <a:latin typeface="Verdana"/>
              </a:rPr>
              <a:t>along the negative direction</a:t>
            </a:r>
            <a:r>
              <a:rPr lang="en-US" sz="3200" b="0" u="none" strike="noStrike">
                <a:solidFill>
                  <a:srgbClr val="000000"/>
                </a:solidFill>
                <a:effectLst/>
                <a:uFillTx/>
                <a:latin typeface="Verdana"/>
              </a:rPr>
              <a:t>)</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Instantaneous and Uniform Acceleration</a:t>
            </a:r>
            <a:endParaRPr lang="en-US" sz="4400" b="0" u="none" strike="noStrike">
              <a:solidFill>
                <a:srgbClr val="333399"/>
              </a:solidFill>
              <a:effectLst/>
              <a:uFillTx/>
              <a:latin typeface="Verdana"/>
            </a:endParaRPr>
          </a:p>
        </p:txBody>
      </p:sp>
      <p:sp>
        <p:nvSpPr>
          <p:cNvPr id="104" name="PlaceHolder 2"/>
          <p:cNvSpPr>
            <a:spLocks noGrp="1"/>
          </p:cNvSpPr>
          <p:nvPr>
            <p:ph/>
          </p:nvPr>
        </p:nvSpPr>
        <p:spPr>
          <a:xfrm>
            <a:off x="1171440" y="1905120"/>
            <a:ext cx="7772400" cy="5068800"/>
          </a:xfrm>
          <a:prstGeom prst="rect">
            <a:avLst/>
          </a:prstGeom>
          <a:noFill/>
          <a:ln w="0">
            <a:noFill/>
          </a:ln>
        </p:spPr>
        <p:txBody>
          <a:bodyPr lIns="91440" tIns="45720" rIns="91440" bIns="45720" anchor="t">
            <a:normAutofit/>
          </a:bodyPr>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Instantaneous acceleration is obtained by taking the limit of the average acceleration as the time interval goes to zero</a:t>
            </a:r>
            <a:endParaRPr lang="en-US" sz="3200" b="0" u="none" strike="noStrike">
              <a:solidFill>
                <a:srgbClr val="000000"/>
              </a:solidFill>
              <a:effectLst/>
              <a:uFillTx/>
              <a:latin typeface="Verdana"/>
            </a:endParaRPr>
          </a:p>
          <a:p>
            <a:pPr marL="343080" indent="-343080" algn="l">
              <a:lnSpc>
                <a:spcPct val="90000"/>
              </a:lnSpc>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When the instantaneous accelerations are always the same at any moment, the acceleration will be uniform and the instantaneous acceleration at any instant will all be equal to the average acceleration</a:t>
            </a:r>
            <a:endParaRPr lang="en-US" sz="32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Graphical Interpretation of Acceleration</a:t>
            </a:r>
            <a:endParaRPr lang="en-US" sz="4400" b="0" u="none" strike="noStrike">
              <a:solidFill>
                <a:srgbClr val="333399"/>
              </a:solidFill>
              <a:effectLst/>
              <a:uFillTx/>
              <a:latin typeface="Verdana"/>
            </a:endParaRPr>
          </a:p>
        </p:txBody>
      </p:sp>
      <p:sp>
        <p:nvSpPr>
          <p:cNvPr id="106" name="PlaceHolder 2"/>
          <p:cNvSpPr>
            <a:spLocks noGrp="1"/>
          </p:cNvSpPr>
          <p:nvPr>
            <p:ph/>
          </p:nvPr>
        </p:nvSpPr>
        <p:spPr>
          <a:xfrm>
            <a:off x="1171440" y="1790640"/>
            <a:ext cx="7772400" cy="5067360"/>
          </a:xfrm>
          <a:prstGeom prst="rect">
            <a:avLst/>
          </a:prstGeom>
          <a:noFill/>
          <a:ln w="0">
            <a:noFill/>
          </a:ln>
        </p:spPr>
        <p:txBody>
          <a:bodyPr lIns="91440" tIns="45720" rIns="91440" bIns="45720" anchor="t">
            <a:normAutofit/>
          </a:bodyPr>
          <a:p>
            <a:pPr marL="343080" indent="-343080" algn="l">
              <a:spcBef>
                <a:spcPts val="7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000" b="0" u="none" strike="noStrike">
                <a:solidFill>
                  <a:srgbClr val="000000"/>
                </a:solidFill>
                <a:effectLst/>
                <a:uFillTx/>
                <a:latin typeface="Verdana"/>
              </a:rPr>
              <a:t>From definitions of the average acceleration and the slope, average acceleration is </a:t>
            </a:r>
            <a:r>
              <a:rPr lang="en-US" sz="3000" b="0" u="none" strike="noStrike">
                <a:solidFill>
                  <a:srgbClr val="3333CC"/>
                </a:solidFill>
                <a:effectLst/>
                <a:uFillTx/>
                <a:latin typeface="Verdana"/>
              </a:rPr>
              <a:t>the slope of the straight line connecting the initial and final velocities on a velocity-time graph</a:t>
            </a:r>
            <a:endParaRPr lang="en-US" sz="3000" b="0" u="none" strike="noStrike">
              <a:solidFill>
                <a:srgbClr val="000000"/>
              </a:solidFill>
              <a:effectLst/>
              <a:uFillTx/>
              <a:latin typeface="Verdana"/>
            </a:endParaRPr>
          </a:p>
          <a:p>
            <a:pPr marL="343080" indent="-343080" algn="l">
              <a:spcBef>
                <a:spcPts val="7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000" b="0" u="none" strike="noStrike">
                <a:solidFill>
                  <a:srgbClr val="000000"/>
                </a:solidFill>
                <a:effectLst/>
                <a:uFillTx/>
                <a:latin typeface="Verdana"/>
              </a:rPr>
              <a:t>Instantaneous acceleration at a given time is </a:t>
            </a:r>
            <a:r>
              <a:rPr lang="en-US" sz="3000" b="0" u="none" strike="noStrike">
                <a:solidFill>
                  <a:srgbClr val="FF0000"/>
                </a:solidFill>
                <a:effectLst/>
                <a:uFillTx/>
                <a:latin typeface="Verdana"/>
              </a:rPr>
              <a:t>the slope of the straight line tangent to the curve of the velocity-time graph at that instant</a:t>
            </a:r>
            <a:endParaRPr lang="en-US" sz="30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 name="Picture 4" descr="0211a"/>
          <p:cNvPicPr/>
          <p:nvPr/>
        </p:nvPicPr>
        <p:blipFill>
          <a:blip r:embed="rId1"/>
          <a:stretch/>
        </p:blipFill>
        <p:spPr>
          <a:xfrm>
            <a:off x="1295280" y="0"/>
            <a:ext cx="660744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Picture 2"/>
          <p:cNvPicPr/>
          <p:nvPr/>
        </p:nvPicPr>
        <p:blipFill>
          <a:blip r:embed="rId1"/>
          <a:stretch/>
        </p:blipFill>
        <p:spPr>
          <a:xfrm>
            <a:off x="1295280" y="0"/>
            <a:ext cx="68580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Picture 2"/>
          <p:cNvPicPr/>
          <p:nvPr/>
        </p:nvPicPr>
        <p:blipFill>
          <a:blip r:embed="rId1"/>
          <a:stretch/>
        </p:blipFill>
        <p:spPr>
          <a:xfrm>
            <a:off x="1219320" y="0"/>
            <a:ext cx="70866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Relationship Between Acceleration and Velocity</a:t>
            </a:r>
            <a:endParaRPr lang="en-US" sz="4400" b="0" u="none" strike="noStrike">
              <a:solidFill>
                <a:srgbClr val="333399"/>
              </a:solidFill>
              <a:effectLst/>
              <a:uFillTx/>
              <a:latin typeface="Verdana"/>
            </a:endParaRPr>
          </a:p>
        </p:txBody>
      </p:sp>
      <p:graphicFrame>
        <p:nvGraphicFramePr>
          <p:cNvPr id="111" name="Object 5"/>
          <p:cNvGraphicFramePr/>
          <p:nvPr/>
        </p:nvGraphicFramePr>
        <p:xfrm>
          <a:off x="1182600" y="2289240"/>
          <a:ext cx="7772400" cy="1436760"/>
        </p:xfrm>
        <a:graphic>
          <a:graphicData uri="http://schemas.openxmlformats.org/presentationml/2006/ole">
            <p:oleObj r:id="rId1" spid="">
              <p:embed/>
              <p:pic>
                <p:nvPicPr>
                  <p:cNvPr id="112" name="Object 5"/>
                  <p:cNvPicPr/>
                  <p:nvPr/>
                </p:nvPicPr>
                <p:blipFill>
                  <a:blip r:embed="rId2"/>
                  <a:stretch/>
                </p:blipFill>
                <p:spPr>
                  <a:xfrm>
                    <a:off x="1182600" y="2289240"/>
                    <a:ext cx="7772400" cy="1436760"/>
                  </a:xfrm>
                  <a:prstGeom prst="rect">
                    <a:avLst/>
                  </a:prstGeom>
                  <a:noFill/>
                  <a:ln w="0">
                    <a:noFill/>
                  </a:ln>
                </p:spPr>
              </p:pic>
            </p:oleObj>
          </a:graphicData>
        </a:graphic>
      </p:graphicFrame>
      <p:sp>
        <p:nvSpPr>
          <p:cNvPr id="113" name="PlaceHolder 2"/>
          <p:cNvSpPr>
            <a:spLocks noGrp="1"/>
          </p:cNvSpPr>
          <p:nvPr>
            <p:ph/>
          </p:nvPr>
        </p:nvSpPr>
        <p:spPr>
          <a:xfrm>
            <a:off x="1182600" y="4151160"/>
            <a:ext cx="7772400" cy="1981440"/>
          </a:xfrm>
          <a:prstGeom prst="rect">
            <a:avLst/>
          </a:prstGeom>
          <a:noFill/>
          <a:ln w="0">
            <a:noFill/>
          </a:ln>
        </p:spPr>
        <p:txBody>
          <a:bodyPr lIns="91440" tIns="45720" rIns="91440" bIns="45720" anchor="t">
            <a:normAutofit/>
          </a:bodyPr>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Uniform velocity (shown by red arrows maintaining the same size)</a:t>
            </a:r>
            <a:endParaRPr lang="en-US" sz="2800" b="0" u="none" strike="noStrike">
              <a:solidFill>
                <a:srgbClr val="000000"/>
              </a:solidFill>
              <a:effectLst/>
              <a:uFillTx/>
              <a:latin typeface="Verdan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Verdana"/>
              </a:rPr>
              <a:t>Acceleration equals zero</a:t>
            </a:r>
            <a:endParaRPr lang="en-US" sz="28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Relationship Between Velocity and Acceleration</a:t>
            </a:r>
            <a:endParaRPr lang="en-US" sz="4400" b="0" u="none" strike="noStrike">
              <a:solidFill>
                <a:srgbClr val="333399"/>
              </a:solidFill>
              <a:effectLst/>
              <a:uFillTx/>
              <a:latin typeface="Verdana"/>
            </a:endParaRPr>
          </a:p>
        </p:txBody>
      </p:sp>
      <p:graphicFrame>
        <p:nvGraphicFramePr>
          <p:cNvPr id="115" name="Object 3"/>
          <p:cNvGraphicFramePr/>
          <p:nvPr/>
        </p:nvGraphicFramePr>
        <p:xfrm>
          <a:off x="1143000" y="2133720"/>
          <a:ext cx="7772400" cy="1717560"/>
        </p:xfrm>
        <a:graphic>
          <a:graphicData uri="http://schemas.openxmlformats.org/presentationml/2006/ole">
            <p:oleObj r:id="rId1" spid="">
              <p:embed/>
              <p:pic>
                <p:nvPicPr>
                  <p:cNvPr id="116" name="Object 3"/>
                  <p:cNvPicPr/>
                  <p:nvPr/>
                </p:nvPicPr>
                <p:blipFill>
                  <a:blip r:embed="rId2"/>
                  <a:stretch/>
                </p:blipFill>
                <p:spPr>
                  <a:xfrm>
                    <a:off x="1143000" y="2133720"/>
                    <a:ext cx="7772400" cy="1717560"/>
                  </a:xfrm>
                  <a:prstGeom prst="rect">
                    <a:avLst/>
                  </a:prstGeom>
                  <a:noFill/>
                  <a:ln w="0">
                    <a:noFill/>
                  </a:ln>
                </p:spPr>
              </p:pic>
            </p:oleObj>
          </a:graphicData>
        </a:graphic>
      </p:graphicFrame>
      <p:sp>
        <p:nvSpPr>
          <p:cNvPr id="117" name="PlaceHolder 2"/>
          <p:cNvSpPr>
            <a:spLocks noGrp="1"/>
          </p:cNvSpPr>
          <p:nvPr>
            <p:ph/>
          </p:nvPr>
        </p:nvSpPr>
        <p:spPr>
          <a:xfrm>
            <a:off x="1066680" y="3885840"/>
            <a:ext cx="7772400" cy="1981080"/>
          </a:xfrm>
          <a:prstGeom prst="rect">
            <a:avLst/>
          </a:prstGeom>
          <a:noFill/>
          <a:ln w="0">
            <a:noFill/>
          </a:ln>
        </p:spPr>
        <p:txBody>
          <a:bodyPr lIns="91440" tIns="45720" rIns="91440" bIns="45720" anchor="t">
            <a:normAutofit fontScale="92500" lnSpcReduction="9999"/>
          </a:bodyPr>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Velocity and acceleration are in the same direction</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Acceleration is uniform (blue arrows maintain the same length)</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Velocity is increasing (red arrows are getting longer)</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Positive velocity and positive acceleration</a:t>
            </a:r>
            <a:endParaRPr lang="en-US" sz="24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Relationship Between Velocity and Acceleration</a:t>
            </a:r>
            <a:endParaRPr lang="en-US" sz="4400" b="0" u="none" strike="noStrike">
              <a:solidFill>
                <a:srgbClr val="333399"/>
              </a:solidFill>
              <a:effectLst/>
              <a:uFillTx/>
              <a:latin typeface="Verdana"/>
            </a:endParaRPr>
          </a:p>
        </p:txBody>
      </p:sp>
      <p:graphicFrame>
        <p:nvGraphicFramePr>
          <p:cNvPr id="119" name="Object 3"/>
          <p:cNvGraphicFramePr/>
          <p:nvPr/>
        </p:nvGraphicFramePr>
        <p:xfrm>
          <a:off x="1066680" y="2209680"/>
          <a:ext cx="7772400" cy="1324080"/>
        </p:xfrm>
        <a:graphic>
          <a:graphicData uri="http://schemas.openxmlformats.org/presentationml/2006/ole">
            <p:oleObj r:id="rId1" spid="">
              <p:embed/>
              <p:pic>
                <p:nvPicPr>
                  <p:cNvPr id="120" name="Object 3"/>
                  <p:cNvPicPr/>
                  <p:nvPr/>
                </p:nvPicPr>
                <p:blipFill>
                  <a:blip r:embed="rId2"/>
                  <a:stretch/>
                </p:blipFill>
                <p:spPr>
                  <a:xfrm>
                    <a:off x="1066680" y="2209680"/>
                    <a:ext cx="7772400" cy="1324080"/>
                  </a:xfrm>
                  <a:prstGeom prst="rect">
                    <a:avLst/>
                  </a:prstGeom>
                  <a:noFill/>
                  <a:ln w="0">
                    <a:noFill/>
                  </a:ln>
                </p:spPr>
              </p:pic>
            </p:oleObj>
          </a:graphicData>
        </a:graphic>
      </p:graphicFrame>
      <p:sp>
        <p:nvSpPr>
          <p:cNvPr id="121" name="PlaceHolder 2"/>
          <p:cNvSpPr>
            <a:spLocks noGrp="1"/>
          </p:cNvSpPr>
          <p:nvPr>
            <p:ph/>
          </p:nvPr>
        </p:nvSpPr>
        <p:spPr>
          <a:xfrm>
            <a:off x="1066680" y="3733560"/>
            <a:ext cx="7772400" cy="1981080"/>
          </a:xfrm>
          <a:prstGeom prst="rect">
            <a:avLst/>
          </a:prstGeom>
          <a:noFill/>
          <a:ln w="0">
            <a:noFill/>
          </a:ln>
        </p:spPr>
        <p:txBody>
          <a:bodyPr lIns="91440" tIns="45720" rIns="91440" bIns="45720" anchor="t">
            <a:normAutofit fontScale="92500" lnSpcReduction="9999"/>
          </a:bodyPr>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Acceleration and velocity are in opposite directions</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Acceleration is uniform (blue arrows maintain the same length)</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Velocity is decreasing (red arrows are getting shorter)</a:t>
            </a:r>
            <a:endParaRPr lang="en-US" sz="2400" b="0" u="none" strike="noStrike">
              <a:solidFill>
                <a:srgbClr val="000000"/>
              </a:solidFill>
              <a:effectLst/>
              <a:uFillTx/>
              <a:latin typeface="Verdan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Verdana"/>
              </a:rPr>
              <a:t>Velocity is positive and acceleration is negative</a:t>
            </a:r>
            <a:endParaRPr lang="en-US" sz="2400" b="0" u="none" strike="noStrike">
              <a:solidFill>
                <a:srgbClr val="000000"/>
              </a:solidFill>
              <a:effectLst/>
              <a:uFillTx/>
              <a:latin typeface="Verdana"/>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1150560" y="617040"/>
            <a:ext cx="7792920" cy="1143000"/>
          </a:xfrm>
          <a:prstGeom prst="rect">
            <a:avLst/>
          </a:prstGeom>
          <a:noFill/>
          <a:ln w="0">
            <a:noFill/>
          </a:ln>
        </p:spPr>
        <p:txBody>
          <a:bodyPr lIns="91440" tIns="45720" rIns="91440" bIns="4572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333399"/>
                </a:solidFill>
                <a:effectLst/>
                <a:uFillTx/>
                <a:latin typeface="Verdana"/>
              </a:rPr>
              <a:t>Kinematic Equations</a:t>
            </a:r>
            <a:endParaRPr lang="en-US" sz="4400" b="0" u="none" strike="noStrike">
              <a:solidFill>
                <a:srgbClr val="333399"/>
              </a:solidFill>
              <a:effectLst/>
              <a:uFillTx/>
              <a:latin typeface="Verdana"/>
            </a:endParaRPr>
          </a:p>
        </p:txBody>
      </p:sp>
      <p:sp>
        <p:nvSpPr>
          <p:cNvPr id="123" name="PlaceHolder 2"/>
          <p:cNvSpPr>
            <a:spLocks noGrp="1"/>
          </p:cNvSpPr>
          <p:nvPr>
            <p:ph/>
          </p:nvPr>
        </p:nvSpPr>
        <p:spPr>
          <a:xfrm>
            <a:off x="1182600" y="2017800"/>
            <a:ext cx="7772400" cy="4114800"/>
          </a:xfrm>
          <a:prstGeom prst="rect">
            <a:avLst/>
          </a:prstGeom>
          <a:noFill/>
          <a:ln w="0">
            <a:noFill/>
          </a:ln>
        </p:spPr>
        <p:txBody>
          <a:bodyPr lIns="91440" tIns="45720" rIns="91440" bIns="45720" anchor="t">
            <a:normAutofit/>
          </a:bodyPr>
          <a:p>
            <a:pPr marL="343080" indent="-343080" algn="l">
              <a:spcBef>
                <a:spcPts val="7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Verdana"/>
              </a:rPr>
              <a:t>Used in situations with </a:t>
            </a:r>
            <a:r>
              <a:rPr lang="en-US" sz="3200" b="0" u="none" strike="noStrike">
                <a:solidFill>
                  <a:srgbClr val="FF0000"/>
                </a:solidFill>
                <a:effectLst/>
                <a:uFillTx/>
                <a:latin typeface="Verdana"/>
              </a:rPr>
              <a:t>uniform (or constant) acceleration</a:t>
            </a:r>
            <a:endParaRPr lang="en-US" sz="3200" b="0" u="none" strike="noStrike">
              <a:solidFill>
                <a:srgbClr val="000000"/>
              </a:solidFill>
              <a:effectLst/>
              <a:uFillTx/>
              <a:latin typeface="Verdana"/>
            </a:endParaRPr>
          </a:p>
          <a:p>
            <a:pPr marL="343080" indent="0" algn="l">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Verdana"/>
            </a:endParaRPr>
          </a:p>
        </p:txBody>
      </p:sp>
      <p:graphicFrame>
        <p:nvGraphicFramePr>
          <p:cNvPr id="124" name="Object 4"/>
          <p:cNvGraphicFramePr/>
          <p:nvPr/>
        </p:nvGraphicFramePr>
        <p:xfrm>
          <a:off x="2430360" y="3048120"/>
          <a:ext cx="4238640" cy="3581280"/>
        </p:xfrm>
        <a:graphic>
          <a:graphicData uri="http://schemas.openxmlformats.org/presentationml/2006/ole">
            <p:oleObj r:id="rId1" spid="">
              <p:embed/>
              <p:pic>
                <p:nvPicPr>
                  <p:cNvPr id="125" name="Object 4"/>
                  <p:cNvPicPr/>
                  <p:nvPr/>
                </p:nvPicPr>
                <p:blipFill>
                  <a:blip r:embed="rId2"/>
                  <a:stretch/>
                </p:blipFill>
                <p:spPr>
                  <a:xfrm>
                    <a:off x="2430360" y="3048120"/>
                    <a:ext cx="4238640" cy="358128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Picture 2"/>
          <p:cNvPicPr/>
          <p:nvPr/>
        </p:nvPicPr>
        <p:blipFill>
          <a:blip r:embed="rId1"/>
          <a:stretch/>
        </p:blipFill>
        <p:spPr>
          <a:xfrm>
            <a:off x="1143000" y="0"/>
            <a:ext cx="701028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Picture 2"/>
          <p:cNvPicPr/>
          <p:nvPr/>
        </p:nvPicPr>
        <p:blipFill>
          <a:blip r:embed="rId1"/>
          <a:stretch/>
        </p:blipFill>
        <p:spPr>
          <a:xfrm>
            <a:off x="1143000" y="0"/>
            <a:ext cx="716292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8" name="Picture 2"/>
          <p:cNvPicPr/>
          <p:nvPr/>
        </p:nvPicPr>
        <p:blipFill>
          <a:blip r:embed="rId1"/>
          <a:stretch/>
        </p:blipFill>
        <p:spPr>
          <a:xfrm>
            <a:off x="1219320" y="0"/>
            <a:ext cx="693396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Picture 2"/>
          <p:cNvPicPr/>
          <p:nvPr/>
        </p:nvPicPr>
        <p:blipFill>
          <a:blip r:embed="rId1"/>
          <a:stretch/>
        </p:blipFill>
        <p:spPr>
          <a:xfrm>
            <a:off x="1219320" y="0"/>
            <a:ext cx="70866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0" name="Picture 2"/>
          <p:cNvPicPr/>
          <p:nvPr/>
        </p:nvPicPr>
        <p:blipFill>
          <a:blip r:embed="rId1"/>
          <a:stretch/>
        </p:blipFill>
        <p:spPr>
          <a:xfrm>
            <a:off x="1219320" y="0"/>
            <a:ext cx="7086600" cy="68580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2711</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2002-06-29T17:46:21Z</dcterms:created>
  <dc:creator>Marilyn Akins</dc:creator>
  <dc:description/>
  <dc:language>en-US</dc:language>
  <cp:lastModifiedBy>Kong-Thon Tsen</cp:lastModifiedBy>
  <dcterms:modified xsi:type="dcterms:W3CDTF">2021-08-29T16:30:00Z</dcterms:modified>
  <cp:revision>93</cp:revision>
  <dc:subject/>
  <dc:title>College Physics Chapter 2</dc:title>
</cp:coreProperties>
</file>